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4630400" cy="8229600"/>
  <p:notesSz cx="8229600" cy="14630400"/>
  <p:embeddedFontLst>
    <p:embeddedFont>
      <p:font typeface="Bricolage Grotesque Extra Bold" panose="020B0604020202020204" charset="0"/>
      <p:regular r:id="rId19"/>
    </p:embeddedFont>
    <p:embeddedFont>
      <p:font typeface="Montserrat" panose="00000500000000000000" pitchFamily="2" charset="0"/>
      <p:regular r:id="rId20"/>
      <p:bold r:id="rId21"/>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65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txBody>
          <a:bodyPr/>
          <a:lstStyle/>
          <a:p>
            <a:endParaRPr lang="de-DE"/>
          </a:p>
        </p:txBody>
      </p:sp>
      <p:sp>
        <p:nvSpPr>
          <p:cNvPr id="3" name="Shape 1"/>
          <p:cNvSpPr/>
          <p:nvPr/>
        </p:nvSpPr>
        <p:spPr>
          <a:xfrm>
            <a:off x="0" y="0"/>
            <a:ext cx="14630400" cy="8229600"/>
          </a:xfrm>
          <a:prstGeom prst="rect">
            <a:avLst/>
          </a:prstGeom>
          <a:solidFill>
            <a:srgbClr val="090E3F"/>
          </a:solidFill>
          <a:ln/>
        </p:spPr>
        <p:txBody>
          <a:bodyPr/>
          <a:lstStyle/>
          <a:p>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6.xml"/><Relationship Id="rId5" Type="http://schemas.openxmlformats.org/officeDocument/2006/relationships/image" Target="../media/image20.sv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3338393"/>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Lösungshinweise</a:t>
            </a:r>
            <a:endParaRPr lang="en-US" sz="3900" dirty="0"/>
          </a:p>
        </p:txBody>
      </p:sp>
      <p:sp>
        <p:nvSpPr>
          <p:cNvPr id="4" name="Text 1"/>
          <p:cNvSpPr/>
          <p:nvPr/>
        </p:nvSpPr>
        <p:spPr>
          <a:xfrm>
            <a:off x="6280190" y="4256127"/>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Musterlösungen zu den Aufgaben 1–5 aus den Bereichen KI, Change Management, Versicherungsmaklerrecht, Datenschutz und ESG-Strategie.</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2270046"/>
            <a:ext cx="1135499" cy="373142"/>
          </a:xfrm>
          <a:prstGeom prst="roundRect">
            <a:avLst>
              <a:gd name="adj" fmla="val 17872"/>
            </a:avLst>
          </a:prstGeom>
          <a:solidFill>
            <a:srgbClr val="3E0845"/>
          </a:solidFill>
          <a:ln/>
        </p:spPr>
        <p:txBody>
          <a:bodyPr/>
          <a:lstStyle/>
          <a:p>
            <a:endParaRPr lang="de-DE"/>
          </a:p>
        </p:txBody>
      </p:sp>
      <p:sp>
        <p:nvSpPr>
          <p:cNvPr id="3" name="Text 1"/>
          <p:cNvSpPr/>
          <p:nvPr/>
        </p:nvSpPr>
        <p:spPr>
          <a:xfrm>
            <a:off x="912852" y="2329577"/>
            <a:ext cx="897374" cy="254079"/>
          </a:xfrm>
          <a:prstGeom prst="rect">
            <a:avLst/>
          </a:prstGeom>
          <a:noFill/>
          <a:ln/>
        </p:spPr>
        <p:txBody>
          <a:bodyPr wrap="none" lIns="0" tIns="0" rIns="0" bIns="0" rtlCol="0" anchor="t"/>
          <a:lstStyle/>
          <a:p>
            <a:pPr marL="0" indent="0" algn="l">
              <a:lnSpc>
                <a:spcPts val="2000"/>
              </a:lnSpc>
              <a:buNone/>
            </a:pPr>
            <a:r>
              <a:rPr lang="en-US" sz="1250" dirty="0">
                <a:solidFill>
                  <a:srgbClr val="E5DCE6"/>
                </a:solidFill>
                <a:latin typeface="Montserrat" pitchFamily="34" charset="0"/>
                <a:ea typeface="Montserrat" pitchFamily="34" charset="-122"/>
                <a:cs typeface="Montserrat" pitchFamily="34" charset="-120"/>
              </a:rPr>
              <a:t>AUFGABE 1</a:t>
            </a:r>
            <a:endParaRPr lang="en-US" sz="1250" dirty="0"/>
          </a:p>
        </p:txBody>
      </p:sp>
      <p:sp>
        <p:nvSpPr>
          <p:cNvPr id="4" name="Text 2"/>
          <p:cNvSpPr/>
          <p:nvPr/>
        </p:nvSpPr>
        <p:spPr>
          <a:xfrm>
            <a:off x="793790" y="2722483"/>
            <a:ext cx="10844093" cy="620078"/>
          </a:xfrm>
          <a:prstGeom prst="rect">
            <a:avLst/>
          </a:prstGeom>
          <a:noFill/>
          <a:ln/>
        </p:spPr>
        <p:txBody>
          <a:bodyPr wrap="non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Sprachassistenten vs. Künstliche Intelligenz</a:t>
            </a:r>
            <a:endParaRPr lang="en-US" sz="3900" dirty="0"/>
          </a:p>
        </p:txBody>
      </p:sp>
      <p:sp>
        <p:nvSpPr>
          <p:cNvPr id="5" name="Text 3"/>
          <p:cNvSpPr/>
          <p:nvPr/>
        </p:nvSpPr>
        <p:spPr>
          <a:xfrm>
            <a:off x="793790" y="3640217"/>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Beide Technologien haben unterschiedliche Einsatzmöglichkeiten im Versicherungsbereich – mit klaren Stärken und Grenzen.</a:t>
            </a:r>
            <a:endParaRPr lang="en-US" sz="1550" dirty="0"/>
          </a:p>
        </p:txBody>
      </p:sp>
      <p:sp>
        <p:nvSpPr>
          <p:cNvPr id="6" name="Shape 4"/>
          <p:cNvSpPr/>
          <p:nvPr/>
        </p:nvSpPr>
        <p:spPr>
          <a:xfrm>
            <a:off x="793790" y="4180999"/>
            <a:ext cx="13042821" cy="1778556"/>
          </a:xfrm>
          <a:prstGeom prst="roundRect">
            <a:avLst>
              <a:gd name="adj" fmla="val 4687"/>
            </a:avLst>
          </a:prstGeom>
          <a:solidFill>
            <a:srgbClr val="282D5E"/>
          </a:solidFill>
          <a:ln/>
        </p:spPr>
        <p:txBody>
          <a:bodyPr/>
          <a:lstStyle/>
          <a:p>
            <a:endParaRPr lang="de-DE"/>
          </a:p>
        </p:txBody>
      </p:sp>
      <p:sp>
        <p:nvSpPr>
          <p:cNvPr id="7" name="Shape 5"/>
          <p:cNvSpPr/>
          <p:nvPr/>
        </p:nvSpPr>
        <p:spPr>
          <a:xfrm>
            <a:off x="793790" y="4180999"/>
            <a:ext cx="6521410" cy="1778556"/>
          </a:xfrm>
          <a:prstGeom prst="roundRect">
            <a:avLst>
              <a:gd name="adj" fmla="val 4687"/>
            </a:avLst>
          </a:prstGeom>
          <a:solidFill>
            <a:srgbClr val="282D5E"/>
          </a:solidFill>
          <a:ln/>
        </p:spPr>
        <p:txBody>
          <a:bodyPr/>
          <a:lstStyle/>
          <a:p>
            <a:endParaRPr lang="de-DE"/>
          </a:p>
        </p:txBody>
      </p:sp>
      <p:sp>
        <p:nvSpPr>
          <p:cNvPr id="8" name="Text 6"/>
          <p:cNvSpPr/>
          <p:nvPr/>
        </p:nvSpPr>
        <p:spPr>
          <a:xfrm>
            <a:off x="992148" y="437935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Sprachassistenten</a:t>
            </a:r>
            <a:endParaRPr lang="en-US" sz="1950" dirty="0"/>
          </a:p>
        </p:txBody>
      </p:sp>
      <p:sp>
        <p:nvSpPr>
          <p:cNvPr id="9" name="Text 7"/>
          <p:cNvSpPr/>
          <p:nvPr/>
        </p:nvSpPr>
        <p:spPr>
          <a:xfrm>
            <a:off x="992148" y="4808577"/>
            <a:ext cx="6124694" cy="95261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Vordefinierte Skripte, klare Befehle, standardisierte Antworten. Geeignet für einfachste Störfälle und hoch standardisierte Vorgänge.</a:t>
            </a:r>
            <a:endParaRPr lang="en-US" sz="1550" dirty="0"/>
          </a:p>
        </p:txBody>
      </p:sp>
      <p:sp>
        <p:nvSpPr>
          <p:cNvPr id="10" name="Shape 8"/>
          <p:cNvSpPr/>
          <p:nvPr/>
        </p:nvSpPr>
        <p:spPr>
          <a:xfrm>
            <a:off x="7315200" y="4180999"/>
            <a:ext cx="6521410" cy="1778556"/>
          </a:xfrm>
          <a:prstGeom prst="rect">
            <a:avLst/>
          </a:prstGeom>
          <a:solidFill>
            <a:srgbClr val="282D5E"/>
          </a:solidFill>
          <a:ln/>
        </p:spPr>
        <p:txBody>
          <a:bodyPr/>
          <a:lstStyle/>
          <a:p>
            <a:endParaRPr lang="de-DE"/>
          </a:p>
        </p:txBody>
      </p:sp>
      <p:sp>
        <p:nvSpPr>
          <p:cNvPr id="11" name="Shape 9"/>
          <p:cNvSpPr/>
          <p:nvPr/>
        </p:nvSpPr>
        <p:spPr>
          <a:xfrm>
            <a:off x="7315200" y="4180999"/>
            <a:ext cx="22860" cy="1778556"/>
          </a:xfrm>
          <a:prstGeom prst="roundRect">
            <a:avLst>
              <a:gd name="adj" fmla="val 364651"/>
            </a:avLst>
          </a:prstGeom>
          <a:solidFill>
            <a:srgbClr val="414677"/>
          </a:solidFill>
          <a:ln/>
        </p:spPr>
        <p:txBody>
          <a:bodyPr/>
          <a:lstStyle/>
          <a:p>
            <a:endParaRPr lang="de-DE"/>
          </a:p>
        </p:txBody>
      </p:sp>
      <p:sp>
        <p:nvSpPr>
          <p:cNvPr id="12" name="Text 10"/>
          <p:cNvSpPr/>
          <p:nvPr/>
        </p:nvSpPr>
        <p:spPr>
          <a:xfrm>
            <a:off x="7513558" y="4379357"/>
            <a:ext cx="2642830"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Künstliche Intelligenz</a:t>
            </a:r>
            <a:endParaRPr lang="en-US" sz="1950" dirty="0"/>
          </a:p>
        </p:txBody>
      </p:sp>
      <p:sp>
        <p:nvSpPr>
          <p:cNvPr id="13" name="Text 11"/>
          <p:cNvSpPr/>
          <p:nvPr/>
        </p:nvSpPr>
        <p:spPr>
          <a:xfrm>
            <a:off x="7513558" y="4808577"/>
            <a:ext cx="6124694" cy="95261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Komplexe Analysen, Mustererkennung, autonome Entscheidungen. Geeignet für Risikoeinschätzungen und Schadenbewertungen.</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Shape 0"/>
          <p:cNvSpPr/>
          <p:nvPr/>
        </p:nvSpPr>
        <p:spPr>
          <a:xfrm>
            <a:off x="784384" y="550902"/>
            <a:ext cx="3060383" cy="382429"/>
          </a:xfrm>
          <a:prstGeom prst="roundRect">
            <a:avLst>
              <a:gd name="adj" fmla="val 17230"/>
            </a:avLst>
          </a:prstGeom>
          <a:noFill/>
          <a:ln w="7620">
            <a:solidFill>
              <a:srgbClr val="EEAEF6"/>
            </a:solidFill>
            <a:prstDash val="solid"/>
          </a:ln>
        </p:spPr>
        <p:txBody>
          <a:bodyPr/>
          <a:lstStyle/>
          <a:p>
            <a:endParaRPr lang="de-DE"/>
          </a:p>
        </p:txBody>
      </p:sp>
      <p:sp>
        <p:nvSpPr>
          <p:cNvPr id="4" name="Text 1"/>
          <p:cNvSpPr/>
          <p:nvPr/>
        </p:nvSpPr>
        <p:spPr>
          <a:xfrm>
            <a:off x="909638" y="617339"/>
            <a:ext cx="2809875" cy="249555"/>
          </a:xfrm>
          <a:prstGeom prst="rect">
            <a:avLst/>
          </a:prstGeom>
          <a:noFill/>
          <a:ln/>
        </p:spPr>
        <p:txBody>
          <a:bodyPr wrap="none" lIns="0" tIns="0" rIns="0" bIns="0" rtlCol="0" anchor="t"/>
          <a:lstStyle/>
          <a:p>
            <a:pPr marL="0" indent="0" algn="l">
              <a:lnSpc>
                <a:spcPts val="1950"/>
              </a:lnSpc>
              <a:buNone/>
            </a:pPr>
            <a:r>
              <a:rPr lang="en-US" sz="1200" dirty="0">
                <a:solidFill>
                  <a:srgbClr val="EEAEF6"/>
                </a:solidFill>
                <a:latin typeface="Montserrat" pitchFamily="34" charset="0"/>
                <a:ea typeface="Montserrat" pitchFamily="34" charset="-122"/>
                <a:cs typeface="Montserrat" pitchFamily="34" charset="-120"/>
              </a:rPr>
              <a:t>AUFGABE 1 – SPRACHASSISTENTEN</a:t>
            </a:r>
            <a:endParaRPr lang="en-US" sz="1200" dirty="0"/>
          </a:p>
        </p:txBody>
      </p:sp>
      <p:sp>
        <p:nvSpPr>
          <p:cNvPr id="5" name="Text 2"/>
          <p:cNvSpPr/>
          <p:nvPr/>
        </p:nvSpPr>
        <p:spPr>
          <a:xfrm>
            <a:off x="784384" y="1010841"/>
            <a:ext cx="7575233" cy="1225629"/>
          </a:xfrm>
          <a:prstGeom prst="rect">
            <a:avLst/>
          </a:prstGeom>
          <a:noFill/>
          <a:ln/>
        </p:spPr>
        <p:txBody>
          <a:bodyPr wrap="square" lIns="0" tIns="0" rIns="0" bIns="0" rtlCol="0" anchor="t"/>
          <a:lstStyle/>
          <a:p>
            <a:pPr marL="0" indent="0" algn="l">
              <a:lnSpc>
                <a:spcPts val="4800"/>
              </a:lnSpc>
              <a:buNone/>
            </a:pPr>
            <a:r>
              <a:rPr lang="en-US" sz="3850" b="1" dirty="0">
                <a:solidFill>
                  <a:srgbClr val="EEAEF6"/>
                </a:solidFill>
                <a:latin typeface="Bricolage Grotesque Extra Bold" pitchFamily="34" charset="0"/>
                <a:ea typeface="Bricolage Grotesque Extra Bold" pitchFamily="34" charset="-122"/>
                <a:cs typeface="Bricolage Grotesque Extra Bold" pitchFamily="34" charset="-120"/>
              </a:rPr>
              <a:t>Stärken und Grenzen von Sprachassistenten</a:t>
            </a:r>
            <a:endParaRPr lang="en-US" sz="3850" dirty="0"/>
          </a:p>
        </p:txBody>
      </p:sp>
      <p:sp>
        <p:nvSpPr>
          <p:cNvPr id="6" name="Shape 3"/>
          <p:cNvSpPr/>
          <p:nvPr/>
        </p:nvSpPr>
        <p:spPr>
          <a:xfrm>
            <a:off x="784384" y="2527102"/>
            <a:ext cx="7575233" cy="1795939"/>
          </a:xfrm>
          <a:prstGeom prst="roundRect">
            <a:avLst>
              <a:gd name="adj" fmla="val 6110"/>
            </a:avLst>
          </a:prstGeom>
          <a:solidFill>
            <a:srgbClr val="090E3F"/>
          </a:solidFill>
          <a:ln w="22860">
            <a:solidFill>
              <a:srgbClr val="414677"/>
            </a:solidFill>
            <a:prstDash val="solid"/>
          </a:ln>
        </p:spPr>
        <p:txBody>
          <a:bodyPr/>
          <a:lstStyle/>
          <a:p>
            <a:endParaRPr lang="de-DE"/>
          </a:p>
        </p:txBody>
      </p:sp>
      <p:sp>
        <p:nvSpPr>
          <p:cNvPr id="7" name="Shape 4"/>
          <p:cNvSpPr/>
          <p:nvPr/>
        </p:nvSpPr>
        <p:spPr>
          <a:xfrm>
            <a:off x="761524" y="2527102"/>
            <a:ext cx="91440" cy="1795939"/>
          </a:xfrm>
          <a:prstGeom prst="roundRect">
            <a:avLst>
              <a:gd name="adj" fmla="val 90078"/>
            </a:avLst>
          </a:prstGeom>
          <a:solidFill>
            <a:srgbClr val="EEAEF6"/>
          </a:solidFill>
          <a:ln/>
        </p:spPr>
        <p:txBody>
          <a:bodyPr/>
          <a:lstStyle/>
          <a:p>
            <a:endParaRPr lang="de-DE"/>
          </a:p>
        </p:txBody>
      </p:sp>
      <p:sp>
        <p:nvSpPr>
          <p:cNvPr id="8" name="Text 5"/>
          <p:cNvSpPr/>
          <p:nvPr/>
        </p:nvSpPr>
        <p:spPr>
          <a:xfrm>
            <a:off x="1071920" y="2746058"/>
            <a:ext cx="2451378" cy="306348"/>
          </a:xfrm>
          <a:prstGeom prst="rect">
            <a:avLst/>
          </a:prstGeom>
          <a:noFill/>
          <a:ln/>
        </p:spPr>
        <p:txBody>
          <a:bodyPr wrap="none" lIns="0" tIns="0" rIns="0" bIns="0" rtlCol="0" anchor="t"/>
          <a:lstStyle/>
          <a:p>
            <a:pPr marL="0" indent="0" algn="l">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Primärer Zweck</a:t>
            </a:r>
            <a:endParaRPr lang="en-US" sz="1900" dirty="0"/>
          </a:p>
        </p:txBody>
      </p:sp>
      <p:sp>
        <p:nvSpPr>
          <p:cNvPr id="9" name="Text 6"/>
          <p:cNvSpPr/>
          <p:nvPr/>
        </p:nvSpPr>
        <p:spPr>
          <a:xfrm>
            <a:off x="1071920" y="3168610"/>
            <a:ext cx="7068741" cy="935474"/>
          </a:xfrm>
          <a:prstGeom prst="rect">
            <a:avLst/>
          </a:prstGeom>
          <a:noFill/>
          <a:ln/>
        </p:spPr>
        <p:txBody>
          <a:bodyPr wrap="square" lIns="0" tIns="0" rIns="0" bIns="0" rtlCol="0" anchor="t"/>
          <a:lstStyle/>
          <a:p>
            <a:pPr marL="0" indent="0" algn="l">
              <a:lnSpc>
                <a:spcPts val="2450"/>
              </a:lnSpc>
              <a:buNone/>
            </a:pPr>
            <a:r>
              <a:rPr lang="en-US" sz="1500" dirty="0">
                <a:solidFill>
                  <a:srgbClr val="E5DCE6"/>
                </a:solidFill>
                <a:latin typeface="Montserrat" pitchFamily="34" charset="0"/>
                <a:ea typeface="Montserrat" pitchFamily="34" charset="-122"/>
                <a:cs typeface="Montserrat" pitchFamily="34" charset="-120"/>
              </a:rPr>
              <a:t>Informationsabfragen, Gerätesteuerung und Vereinfachung von Standardprozessen durch Sprachbefehle – keine eigenständigen Entscheidungen mit rechtlicher Tragweite.</a:t>
            </a:r>
            <a:endParaRPr lang="en-US" sz="1500" dirty="0"/>
          </a:p>
        </p:txBody>
      </p:sp>
      <p:sp>
        <p:nvSpPr>
          <p:cNvPr id="10" name="Shape 7"/>
          <p:cNvSpPr/>
          <p:nvPr/>
        </p:nvSpPr>
        <p:spPr>
          <a:xfrm>
            <a:off x="784384" y="4516755"/>
            <a:ext cx="7575233" cy="1484114"/>
          </a:xfrm>
          <a:prstGeom prst="roundRect">
            <a:avLst>
              <a:gd name="adj" fmla="val 7394"/>
            </a:avLst>
          </a:prstGeom>
          <a:solidFill>
            <a:srgbClr val="090E3F"/>
          </a:solidFill>
          <a:ln w="22860">
            <a:solidFill>
              <a:srgbClr val="414677"/>
            </a:solidFill>
            <a:prstDash val="solid"/>
          </a:ln>
        </p:spPr>
        <p:txBody>
          <a:bodyPr/>
          <a:lstStyle/>
          <a:p>
            <a:endParaRPr lang="de-DE"/>
          </a:p>
        </p:txBody>
      </p:sp>
      <p:sp>
        <p:nvSpPr>
          <p:cNvPr id="11" name="Shape 8"/>
          <p:cNvSpPr/>
          <p:nvPr/>
        </p:nvSpPr>
        <p:spPr>
          <a:xfrm>
            <a:off x="761524" y="4516755"/>
            <a:ext cx="91440" cy="1484114"/>
          </a:xfrm>
          <a:prstGeom prst="roundRect">
            <a:avLst>
              <a:gd name="adj" fmla="val 90078"/>
            </a:avLst>
          </a:prstGeom>
          <a:solidFill>
            <a:srgbClr val="EEAEF6"/>
          </a:solidFill>
          <a:ln/>
        </p:spPr>
        <p:txBody>
          <a:bodyPr/>
          <a:lstStyle/>
          <a:p>
            <a:endParaRPr lang="de-DE"/>
          </a:p>
        </p:txBody>
      </p:sp>
      <p:sp>
        <p:nvSpPr>
          <p:cNvPr id="12" name="Text 9"/>
          <p:cNvSpPr/>
          <p:nvPr/>
        </p:nvSpPr>
        <p:spPr>
          <a:xfrm>
            <a:off x="1071920" y="4735711"/>
            <a:ext cx="3954542" cy="306348"/>
          </a:xfrm>
          <a:prstGeom prst="rect">
            <a:avLst/>
          </a:prstGeom>
          <a:noFill/>
          <a:ln/>
        </p:spPr>
        <p:txBody>
          <a:bodyPr wrap="none" lIns="0" tIns="0" rIns="0" bIns="0" rtlCol="0" anchor="t"/>
          <a:lstStyle/>
          <a:p>
            <a:pPr marL="0" indent="0" algn="l">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Nachvollziehbarkeit &amp; Vertrauen</a:t>
            </a:r>
            <a:endParaRPr lang="en-US" sz="1900" dirty="0"/>
          </a:p>
        </p:txBody>
      </p:sp>
      <p:sp>
        <p:nvSpPr>
          <p:cNvPr id="13" name="Text 10"/>
          <p:cNvSpPr/>
          <p:nvPr/>
        </p:nvSpPr>
        <p:spPr>
          <a:xfrm>
            <a:off x="1071920" y="5158264"/>
            <a:ext cx="7068741" cy="623649"/>
          </a:xfrm>
          <a:prstGeom prst="rect">
            <a:avLst/>
          </a:prstGeom>
          <a:noFill/>
          <a:ln/>
        </p:spPr>
        <p:txBody>
          <a:bodyPr wrap="square" lIns="0" tIns="0" rIns="0" bIns="0" rtlCol="0" anchor="t"/>
          <a:lstStyle/>
          <a:p>
            <a:pPr marL="0" indent="0" algn="l">
              <a:lnSpc>
                <a:spcPts val="2450"/>
              </a:lnSpc>
              <a:buNone/>
            </a:pPr>
            <a:r>
              <a:rPr lang="en-US" sz="1500" dirty="0">
                <a:solidFill>
                  <a:srgbClr val="E5DCE6"/>
                </a:solidFill>
                <a:latin typeface="Montserrat" pitchFamily="34" charset="0"/>
                <a:ea typeface="Montserrat" pitchFamily="34" charset="-122"/>
                <a:cs typeface="Montserrat" pitchFamily="34" charset="-120"/>
              </a:rPr>
              <a:t>Nutzer:innen wissen, welche Antworten sie erwarten können. Standardisierte Antworten senken das Risiko für Datenverlust.</a:t>
            </a:r>
            <a:endParaRPr lang="en-US" sz="1500" dirty="0"/>
          </a:p>
        </p:txBody>
      </p:sp>
      <p:sp>
        <p:nvSpPr>
          <p:cNvPr id="14" name="Shape 11"/>
          <p:cNvSpPr/>
          <p:nvPr/>
        </p:nvSpPr>
        <p:spPr>
          <a:xfrm>
            <a:off x="784384" y="6194584"/>
            <a:ext cx="7575233" cy="1484114"/>
          </a:xfrm>
          <a:prstGeom prst="roundRect">
            <a:avLst>
              <a:gd name="adj" fmla="val 7394"/>
            </a:avLst>
          </a:prstGeom>
          <a:solidFill>
            <a:srgbClr val="090E3F"/>
          </a:solidFill>
          <a:ln w="22860">
            <a:solidFill>
              <a:srgbClr val="414677"/>
            </a:solidFill>
            <a:prstDash val="solid"/>
          </a:ln>
        </p:spPr>
        <p:txBody>
          <a:bodyPr/>
          <a:lstStyle/>
          <a:p>
            <a:endParaRPr lang="de-DE"/>
          </a:p>
        </p:txBody>
      </p:sp>
      <p:sp>
        <p:nvSpPr>
          <p:cNvPr id="15" name="Shape 12"/>
          <p:cNvSpPr/>
          <p:nvPr/>
        </p:nvSpPr>
        <p:spPr>
          <a:xfrm>
            <a:off x="761524" y="6194584"/>
            <a:ext cx="91440" cy="1484114"/>
          </a:xfrm>
          <a:prstGeom prst="roundRect">
            <a:avLst>
              <a:gd name="adj" fmla="val 90078"/>
            </a:avLst>
          </a:prstGeom>
          <a:solidFill>
            <a:srgbClr val="EEAEF6"/>
          </a:solidFill>
          <a:ln/>
        </p:spPr>
        <p:txBody>
          <a:bodyPr/>
          <a:lstStyle/>
          <a:p>
            <a:endParaRPr lang="de-DE"/>
          </a:p>
        </p:txBody>
      </p:sp>
      <p:sp>
        <p:nvSpPr>
          <p:cNvPr id="16" name="Text 13"/>
          <p:cNvSpPr/>
          <p:nvPr/>
        </p:nvSpPr>
        <p:spPr>
          <a:xfrm>
            <a:off x="1071920" y="6413540"/>
            <a:ext cx="2451378" cy="306348"/>
          </a:xfrm>
          <a:prstGeom prst="rect">
            <a:avLst/>
          </a:prstGeom>
          <a:noFill/>
          <a:ln/>
        </p:spPr>
        <p:txBody>
          <a:bodyPr wrap="none" lIns="0" tIns="0" rIns="0" bIns="0" rtlCol="0" anchor="t"/>
          <a:lstStyle/>
          <a:p>
            <a:pPr marL="0" indent="0" algn="l">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Fazit</a:t>
            </a:r>
            <a:endParaRPr lang="en-US" sz="1900" dirty="0"/>
          </a:p>
        </p:txBody>
      </p:sp>
      <p:sp>
        <p:nvSpPr>
          <p:cNvPr id="17" name="Text 14"/>
          <p:cNvSpPr/>
          <p:nvPr/>
        </p:nvSpPr>
        <p:spPr>
          <a:xfrm>
            <a:off x="1071920" y="6836093"/>
            <a:ext cx="7068741" cy="623649"/>
          </a:xfrm>
          <a:prstGeom prst="rect">
            <a:avLst/>
          </a:prstGeom>
          <a:noFill/>
          <a:ln/>
        </p:spPr>
        <p:txBody>
          <a:bodyPr wrap="square" lIns="0" tIns="0" rIns="0" bIns="0" rtlCol="0" anchor="t"/>
          <a:lstStyle/>
          <a:p>
            <a:pPr marL="0" indent="0" algn="l">
              <a:lnSpc>
                <a:spcPts val="2450"/>
              </a:lnSpc>
              <a:buNone/>
            </a:pPr>
            <a:r>
              <a:rPr lang="en-US" sz="1500" dirty="0">
                <a:solidFill>
                  <a:srgbClr val="E5DCE6"/>
                </a:solidFill>
                <a:latin typeface="Montserrat" pitchFamily="34" charset="0"/>
                <a:ea typeface="Montserrat" pitchFamily="34" charset="-122"/>
                <a:cs typeface="Montserrat" pitchFamily="34" charset="-120"/>
              </a:rPr>
              <a:t>Geeignet für einfachste Störfälle und hoch standardisierte Vorgänge – </a:t>
            </a:r>
            <a:r>
              <a:rPr lang="en-US" sz="1500" b="1" dirty="0">
                <a:solidFill>
                  <a:srgbClr val="E5DCE6"/>
                </a:solidFill>
                <a:latin typeface="Montserrat" pitchFamily="34" charset="0"/>
                <a:ea typeface="Montserrat" pitchFamily="34" charset="-122"/>
                <a:cs typeface="Montserrat" pitchFamily="34" charset="-120"/>
              </a:rPr>
              <a:t>keinesfalls für individuelle Beratungen</a:t>
            </a:r>
            <a:r>
              <a:rPr lang="en-US" sz="1500" dirty="0">
                <a:solidFill>
                  <a:srgbClr val="E5DCE6"/>
                </a:solidFill>
                <a:latin typeface="Montserrat" pitchFamily="34" charset="0"/>
                <a:ea typeface="Montserrat" pitchFamily="34" charset="-122"/>
                <a:cs typeface="Montserrat"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1984653"/>
            <a:ext cx="3467457" cy="388382"/>
          </a:xfrm>
          <a:prstGeom prst="roundRect">
            <a:avLst>
              <a:gd name="adj" fmla="val 17171"/>
            </a:avLst>
          </a:prstGeom>
          <a:noFill/>
          <a:ln w="7620">
            <a:solidFill>
              <a:srgbClr val="EEAEF6"/>
            </a:solidFill>
            <a:prstDash val="solid"/>
          </a:ln>
        </p:spPr>
        <p:txBody>
          <a:bodyPr/>
          <a:lstStyle/>
          <a:p>
            <a:endParaRPr lang="de-DE"/>
          </a:p>
        </p:txBody>
      </p:sp>
      <p:sp>
        <p:nvSpPr>
          <p:cNvPr id="3" name="Text 1"/>
          <p:cNvSpPr/>
          <p:nvPr/>
        </p:nvSpPr>
        <p:spPr>
          <a:xfrm>
            <a:off x="920472" y="2051804"/>
            <a:ext cx="3214092" cy="254079"/>
          </a:xfrm>
          <a:prstGeom prst="rect">
            <a:avLst/>
          </a:prstGeom>
          <a:noFill/>
          <a:ln/>
        </p:spPr>
        <p:txBody>
          <a:bodyPr wrap="none" lIns="0" tIns="0" rIns="0" bIns="0" rtlCol="0" anchor="t"/>
          <a:lstStyle/>
          <a:p>
            <a:pPr marL="0" indent="0" algn="l">
              <a:lnSpc>
                <a:spcPts val="2000"/>
              </a:lnSpc>
              <a:buNone/>
            </a:pPr>
            <a:r>
              <a:rPr lang="en-US" sz="1250" dirty="0">
                <a:solidFill>
                  <a:srgbClr val="EEAEF6"/>
                </a:solidFill>
                <a:latin typeface="Montserrat" pitchFamily="34" charset="0"/>
                <a:ea typeface="Montserrat" pitchFamily="34" charset="-122"/>
                <a:cs typeface="Montserrat" pitchFamily="34" charset="-120"/>
              </a:rPr>
              <a:t>AUFGABE 1 – KÜNSTLICHE INTELLIGENZ</a:t>
            </a:r>
            <a:endParaRPr lang="en-US" sz="1250" dirty="0"/>
          </a:p>
        </p:txBody>
      </p:sp>
      <p:sp>
        <p:nvSpPr>
          <p:cNvPr id="4" name="Text 2"/>
          <p:cNvSpPr/>
          <p:nvPr/>
        </p:nvSpPr>
        <p:spPr>
          <a:xfrm>
            <a:off x="793790" y="2452330"/>
            <a:ext cx="13042821" cy="1240155"/>
          </a:xfrm>
          <a:prstGeom prst="rect">
            <a:avLst/>
          </a:prstGeom>
          <a:noFill/>
          <a:ln/>
        </p:spPr>
        <p:txBody>
          <a:bodyPr wrap="squar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Chancen und Risiken von KI im Versicherungsbereich</a:t>
            </a:r>
            <a:endParaRPr lang="en-US" sz="3900" dirty="0"/>
          </a:p>
        </p:txBody>
      </p:sp>
      <p:sp>
        <p:nvSpPr>
          <p:cNvPr id="5" name="Shape 3"/>
          <p:cNvSpPr/>
          <p:nvPr/>
        </p:nvSpPr>
        <p:spPr>
          <a:xfrm>
            <a:off x="650915" y="3990142"/>
            <a:ext cx="6565106" cy="2254687"/>
          </a:xfrm>
          <a:prstGeom prst="roundRect">
            <a:avLst>
              <a:gd name="adj" fmla="val 6338"/>
            </a:avLst>
          </a:prstGeom>
          <a:solidFill>
            <a:srgbClr val="243799"/>
          </a:solidFill>
          <a:ln/>
        </p:spPr>
        <p:txBody>
          <a:bodyPr/>
          <a:lstStyle/>
          <a:p>
            <a:endParaRPr lang="de-DE"/>
          </a:p>
        </p:txBody>
      </p:sp>
      <p:sp>
        <p:nvSpPr>
          <p:cNvPr id="6" name="Text 4"/>
          <p:cNvSpPr/>
          <p:nvPr/>
        </p:nvSpPr>
        <p:spPr>
          <a:xfrm>
            <a:off x="849273" y="418850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EAEF6"/>
                </a:solidFill>
                <a:latin typeface="Bricolage Grotesque Extra Bold" pitchFamily="34" charset="0"/>
                <a:ea typeface="Bricolage Grotesque Extra Bold" pitchFamily="34" charset="-122"/>
                <a:cs typeface="Bricolage Grotesque Extra Bold" pitchFamily="34" charset="-120"/>
              </a:rPr>
              <a:t>Chancen</a:t>
            </a:r>
            <a:endParaRPr lang="en-US" sz="1950" dirty="0"/>
          </a:p>
        </p:txBody>
      </p:sp>
      <p:sp>
        <p:nvSpPr>
          <p:cNvPr id="7" name="Text 5"/>
          <p:cNvSpPr/>
          <p:nvPr/>
        </p:nvSpPr>
        <p:spPr>
          <a:xfrm>
            <a:off x="849273" y="4697016"/>
            <a:ext cx="6168390" cy="1408986"/>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DCE6"/>
                </a:solidFill>
                <a:latin typeface="Montserrat" pitchFamily="34" charset="0"/>
                <a:ea typeface="Montserrat" pitchFamily="34" charset="-122"/>
                <a:cs typeface="Montserrat" pitchFamily="34" charset="-120"/>
              </a:rPr>
              <a:t>Komplexe Analysen und Mustererkennung</a:t>
            </a:r>
            <a:endParaRPr lang="en-US" sz="1550" dirty="0"/>
          </a:p>
          <a:p>
            <a:pPr marL="342900" indent="-342900" algn="l">
              <a:lnSpc>
                <a:spcPts val="2500"/>
              </a:lnSpc>
              <a:buSzPct val="100000"/>
              <a:buChar char="•"/>
            </a:pPr>
            <a:r>
              <a:rPr lang="en-US" sz="1550" dirty="0">
                <a:solidFill>
                  <a:srgbClr val="E5DCE6"/>
                </a:solidFill>
                <a:latin typeface="Montserrat" pitchFamily="34" charset="0"/>
                <a:ea typeface="Montserrat" pitchFamily="34" charset="-122"/>
                <a:cs typeface="Montserrat" pitchFamily="34" charset="-120"/>
              </a:rPr>
              <a:t>Autonome Risikoeinschätzungen und Schadenbewertungen</a:t>
            </a:r>
            <a:endParaRPr lang="en-US" sz="1550" dirty="0"/>
          </a:p>
          <a:p>
            <a:pPr marL="342900" indent="-342900" algn="l">
              <a:lnSpc>
                <a:spcPts val="2500"/>
              </a:lnSpc>
              <a:buSzPct val="100000"/>
              <a:buChar char="•"/>
            </a:pPr>
            <a:r>
              <a:rPr lang="en-US" sz="1550" dirty="0">
                <a:solidFill>
                  <a:srgbClr val="E5DCE6"/>
                </a:solidFill>
                <a:latin typeface="Montserrat" pitchFamily="34" charset="0"/>
                <a:ea typeface="Montserrat" pitchFamily="34" charset="-122"/>
                <a:cs typeface="Montserrat" pitchFamily="34" charset="-120"/>
              </a:rPr>
              <a:t>Interaktive Kundenbetreuung möglich</a:t>
            </a:r>
            <a:endParaRPr lang="en-US" sz="1550" dirty="0"/>
          </a:p>
        </p:txBody>
      </p:sp>
      <p:sp>
        <p:nvSpPr>
          <p:cNvPr id="8" name="Text 6"/>
          <p:cNvSpPr/>
          <p:nvPr/>
        </p:nvSpPr>
        <p:spPr>
          <a:xfrm>
            <a:off x="7564874" y="4188500"/>
            <a:ext cx="3626644" cy="310158"/>
          </a:xfrm>
          <a:prstGeom prst="rect">
            <a:avLst/>
          </a:prstGeom>
          <a:noFill/>
          <a:ln/>
        </p:spPr>
        <p:txBody>
          <a:bodyPr wrap="none" lIns="0" tIns="0" rIns="0" bIns="0" rtlCol="0" anchor="t"/>
          <a:lstStyle/>
          <a:p>
            <a:pPr marL="0" indent="0" algn="l">
              <a:lnSpc>
                <a:spcPts val="2400"/>
              </a:lnSpc>
              <a:buNone/>
            </a:pPr>
            <a:r>
              <a:rPr lang="en-US" sz="1950" b="1" dirty="0">
                <a:solidFill>
                  <a:srgbClr val="EEAEF6"/>
                </a:solidFill>
                <a:latin typeface="Bricolage Grotesque Extra Bold" pitchFamily="34" charset="0"/>
                <a:ea typeface="Bricolage Grotesque Extra Bold" pitchFamily="34" charset="-122"/>
                <a:cs typeface="Bricolage Grotesque Extra Bold" pitchFamily="34" charset="-120"/>
              </a:rPr>
              <a:t>Risiken &amp; Herausforderungen</a:t>
            </a:r>
            <a:endParaRPr lang="en-US" sz="1950" dirty="0"/>
          </a:p>
        </p:txBody>
      </p:sp>
      <p:sp>
        <p:nvSpPr>
          <p:cNvPr id="9" name="Text 7"/>
          <p:cNvSpPr/>
          <p:nvPr/>
        </p:nvSpPr>
        <p:spPr>
          <a:xfrm>
            <a:off x="7564874" y="4697016"/>
            <a:ext cx="6279356"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E5DCE6"/>
                </a:solidFill>
                <a:latin typeface="Montserrat" pitchFamily="34" charset="0"/>
                <a:ea typeface="Montserrat" pitchFamily="34" charset="-122"/>
                <a:cs typeface="Montserrat" pitchFamily="34" charset="-120"/>
              </a:rPr>
              <a:t>Haftungsfragen bei autonomen Entscheidungen</a:t>
            </a:r>
            <a:endParaRPr lang="en-US" sz="1550" dirty="0"/>
          </a:p>
          <a:p>
            <a:pPr marL="342900" indent="-342900" algn="l">
              <a:lnSpc>
                <a:spcPts val="2500"/>
              </a:lnSpc>
              <a:buSzPct val="100000"/>
              <a:buChar char="•"/>
            </a:pPr>
            <a:r>
              <a:rPr lang="en-US" sz="1550" dirty="0">
                <a:solidFill>
                  <a:srgbClr val="E5DCE6"/>
                </a:solidFill>
                <a:latin typeface="Montserrat" pitchFamily="34" charset="0"/>
                <a:ea typeface="Montserrat" pitchFamily="34" charset="-122"/>
                <a:cs typeface="Montserrat" pitchFamily="34" charset="-120"/>
              </a:rPr>
              <a:t>Mangelnde Transparenz durch maschinelles Lernen</a:t>
            </a:r>
            <a:endParaRPr lang="en-US" sz="1550" dirty="0"/>
          </a:p>
          <a:p>
            <a:pPr marL="342900" indent="-342900" algn="l">
              <a:lnSpc>
                <a:spcPts val="2500"/>
              </a:lnSpc>
              <a:buSzPct val="100000"/>
              <a:buChar char="•"/>
            </a:pPr>
            <a:r>
              <a:rPr lang="en-US" sz="1550" dirty="0">
                <a:solidFill>
                  <a:srgbClr val="E5DCE6"/>
                </a:solidFill>
                <a:latin typeface="Montserrat" pitchFamily="34" charset="0"/>
                <a:ea typeface="Montserrat" pitchFamily="34" charset="-122"/>
                <a:cs typeface="Montserrat" pitchFamily="34" charset="-120"/>
              </a:rPr>
              <a:t>Übernahme bestehender Vorurteile aus Trainingsdaten</a:t>
            </a:r>
            <a:endParaRPr lang="en-US" sz="1550" dirty="0"/>
          </a:p>
          <a:p>
            <a:pPr marL="342900" indent="-342900" algn="l">
              <a:lnSpc>
                <a:spcPts val="2500"/>
              </a:lnSpc>
              <a:buSzPct val="100000"/>
              <a:buChar char="•"/>
            </a:pPr>
            <a:r>
              <a:rPr lang="en-US" sz="1550" dirty="0">
                <a:solidFill>
                  <a:srgbClr val="E5DCE6"/>
                </a:solidFill>
                <a:latin typeface="Montserrat" pitchFamily="34" charset="0"/>
                <a:ea typeface="Montserrat" pitchFamily="34" charset="-122"/>
                <a:cs typeface="Montserrat" pitchFamily="34" charset="-120"/>
              </a:rPr>
              <a:t>Mögliche Benachteiligung bestimmter Personengruppen</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Shape 0"/>
          <p:cNvSpPr/>
          <p:nvPr/>
        </p:nvSpPr>
        <p:spPr>
          <a:xfrm>
            <a:off x="6280190" y="2958465"/>
            <a:ext cx="1168360" cy="373142"/>
          </a:xfrm>
          <a:prstGeom prst="roundRect">
            <a:avLst>
              <a:gd name="adj" fmla="val 17872"/>
            </a:avLst>
          </a:prstGeom>
          <a:solidFill>
            <a:srgbClr val="3E0845"/>
          </a:solidFill>
          <a:ln/>
        </p:spPr>
        <p:txBody>
          <a:bodyPr/>
          <a:lstStyle/>
          <a:p>
            <a:endParaRPr lang="de-DE"/>
          </a:p>
        </p:txBody>
      </p:sp>
      <p:sp>
        <p:nvSpPr>
          <p:cNvPr id="4" name="Text 1"/>
          <p:cNvSpPr/>
          <p:nvPr/>
        </p:nvSpPr>
        <p:spPr>
          <a:xfrm>
            <a:off x="6399252" y="3017996"/>
            <a:ext cx="930235" cy="254079"/>
          </a:xfrm>
          <a:prstGeom prst="rect">
            <a:avLst/>
          </a:prstGeom>
          <a:noFill/>
          <a:ln/>
        </p:spPr>
        <p:txBody>
          <a:bodyPr wrap="none" lIns="0" tIns="0" rIns="0" bIns="0" rtlCol="0" anchor="t"/>
          <a:lstStyle/>
          <a:p>
            <a:pPr marL="0" indent="0" algn="l">
              <a:lnSpc>
                <a:spcPts val="2000"/>
              </a:lnSpc>
              <a:buNone/>
            </a:pPr>
            <a:r>
              <a:rPr lang="en-US" sz="1250" dirty="0">
                <a:solidFill>
                  <a:srgbClr val="E5DCE6"/>
                </a:solidFill>
                <a:latin typeface="Montserrat" pitchFamily="34" charset="0"/>
                <a:ea typeface="Montserrat" pitchFamily="34" charset="-122"/>
                <a:cs typeface="Montserrat" pitchFamily="34" charset="-120"/>
              </a:rPr>
              <a:t>AUFGABE 2</a:t>
            </a:r>
            <a:endParaRPr lang="en-US" sz="1250" dirty="0"/>
          </a:p>
        </p:txBody>
      </p:sp>
      <p:sp>
        <p:nvSpPr>
          <p:cNvPr id="5" name="Text 2"/>
          <p:cNvSpPr/>
          <p:nvPr/>
        </p:nvSpPr>
        <p:spPr>
          <a:xfrm>
            <a:off x="6280190" y="3410903"/>
            <a:ext cx="7556421" cy="1860233"/>
          </a:xfrm>
          <a:prstGeom prst="rect">
            <a:avLst/>
          </a:prstGeom>
          <a:noFill/>
          <a:ln/>
        </p:spPr>
        <p:txBody>
          <a:bodyPr wrap="squar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Change Management: Maßnahmen zur Mitarbeitendeneinbindung</a:t>
            </a:r>
            <a:endParaRPr lang="en-US" sz="3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1841778"/>
            <a:ext cx="1183600" cy="388382"/>
          </a:xfrm>
          <a:prstGeom prst="roundRect">
            <a:avLst>
              <a:gd name="adj" fmla="val 17171"/>
            </a:avLst>
          </a:prstGeom>
          <a:noFill/>
          <a:ln w="7620">
            <a:solidFill>
              <a:srgbClr val="EEAEF6"/>
            </a:solidFill>
            <a:prstDash val="solid"/>
          </a:ln>
        </p:spPr>
        <p:txBody>
          <a:bodyPr/>
          <a:lstStyle/>
          <a:p>
            <a:endParaRPr lang="de-DE"/>
          </a:p>
        </p:txBody>
      </p:sp>
      <p:sp>
        <p:nvSpPr>
          <p:cNvPr id="3" name="Text 1"/>
          <p:cNvSpPr/>
          <p:nvPr/>
        </p:nvSpPr>
        <p:spPr>
          <a:xfrm>
            <a:off x="920472" y="1908929"/>
            <a:ext cx="930235" cy="254079"/>
          </a:xfrm>
          <a:prstGeom prst="rect">
            <a:avLst/>
          </a:prstGeom>
          <a:noFill/>
          <a:ln/>
        </p:spPr>
        <p:txBody>
          <a:bodyPr wrap="none" lIns="0" tIns="0" rIns="0" bIns="0" rtlCol="0" anchor="t"/>
          <a:lstStyle/>
          <a:p>
            <a:pPr marL="0" indent="0" algn="l">
              <a:lnSpc>
                <a:spcPts val="2000"/>
              </a:lnSpc>
              <a:buNone/>
            </a:pPr>
            <a:r>
              <a:rPr lang="en-US" sz="1250" dirty="0">
                <a:solidFill>
                  <a:srgbClr val="EEAEF6"/>
                </a:solidFill>
                <a:latin typeface="Montserrat" pitchFamily="34" charset="0"/>
                <a:ea typeface="Montserrat" pitchFamily="34" charset="-122"/>
                <a:cs typeface="Montserrat" pitchFamily="34" charset="-120"/>
              </a:rPr>
              <a:t>AUFGABE 2</a:t>
            </a:r>
            <a:endParaRPr lang="en-US" sz="1250" dirty="0"/>
          </a:p>
        </p:txBody>
      </p:sp>
      <p:sp>
        <p:nvSpPr>
          <p:cNvPr id="4" name="Text 2"/>
          <p:cNvSpPr/>
          <p:nvPr/>
        </p:nvSpPr>
        <p:spPr>
          <a:xfrm>
            <a:off x="793790" y="2309455"/>
            <a:ext cx="8725019" cy="620078"/>
          </a:xfrm>
          <a:prstGeom prst="rect">
            <a:avLst/>
          </a:prstGeom>
          <a:noFill/>
          <a:ln/>
        </p:spPr>
        <p:txBody>
          <a:bodyPr wrap="non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Erfolgsfaktoren im Change-Prozess</a:t>
            </a:r>
            <a:endParaRPr lang="en-US" sz="390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227189"/>
            <a:ext cx="496133" cy="496133"/>
          </a:xfrm>
          <a:prstGeom prst="rect">
            <a:avLst/>
          </a:prstGeom>
        </p:spPr>
      </p:pic>
      <p:sp>
        <p:nvSpPr>
          <p:cNvPr id="6" name="Text 3"/>
          <p:cNvSpPr/>
          <p:nvPr/>
        </p:nvSpPr>
        <p:spPr>
          <a:xfrm>
            <a:off x="1537930" y="3227189"/>
            <a:ext cx="2848689"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Frühzeitige Einbindung</a:t>
            </a:r>
            <a:endParaRPr lang="en-US" sz="1950" dirty="0"/>
          </a:p>
        </p:txBody>
      </p:sp>
      <p:sp>
        <p:nvSpPr>
          <p:cNvPr id="7" name="Text 4"/>
          <p:cNvSpPr/>
          <p:nvPr/>
        </p:nvSpPr>
        <p:spPr>
          <a:xfrm>
            <a:off x="1537930" y="3656409"/>
            <a:ext cx="5653207" cy="95261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Mitarbeitende aktiv und frühzeitig einbinden sowie durch offene, kontinuierliche Kommunikation Unsicherheiten abbauen.</a:t>
            </a:r>
            <a:endParaRPr lang="en-US" sz="155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39144" y="3227189"/>
            <a:ext cx="496133" cy="496133"/>
          </a:xfrm>
          <a:prstGeom prst="rect">
            <a:avLst/>
          </a:prstGeom>
        </p:spPr>
      </p:pic>
      <p:sp>
        <p:nvSpPr>
          <p:cNvPr id="9" name="Text 5"/>
          <p:cNvSpPr/>
          <p:nvPr/>
        </p:nvSpPr>
        <p:spPr>
          <a:xfrm>
            <a:off x="8183285" y="3227189"/>
            <a:ext cx="2898815"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Praxisnahe Schulungen</a:t>
            </a:r>
            <a:endParaRPr lang="en-US" sz="1950" dirty="0"/>
          </a:p>
        </p:txBody>
      </p:sp>
      <p:sp>
        <p:nvSpPr>
          <p:cNvPr id="10" name="Text 6"/>
          <p:cNvSpPr/>
          <p:nvPr/>
        </p:nvSpPr>
        <p:spPr>
          <a:xfrm>
            <a:off x="8183285" y="3656409"/>
            <a:ext cx="5653326" cy="95261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„Hands-on"-Erfahrungen ermöglichen einen direkten Umgang mit neuen Technologien und fördern die Akzeptanz.</a:t>
            </a:r>
            <a:endParaRPr lang="en-US" sz="1550" dirty="0"/>
          </a:p>
        </p:txBody>
      </p:sp>
      <p:pic>
        <p:nvPicPr>
          <p:cNvPr id="11"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5005864"/>
            <a:ext cx="496133" cy="496133"/>
          </a:xfrm>
          <a:prstGeom prst="rect">
            <a:avLst/>
          </a:prstGeom>
        </p:spPr>
      </p:pic>
      <p:sp>
        <p:nvSpPr>
          <p:cNvPr id="12" name="Text 7"/>
          <p:cNvSpPr/>
          <p:nvPr/>
        </p:nvSpPr>
        <p:spPr>
          <a:xfrm>
            <a:off x="1537930" y="500586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Positives Narrativ</a:t>
            </a:r>
            <a:endParaRPr lang="en-US" sz="1950" dirty="0"/>
          </a:p>
        </p:txBody>
      </p:sp>
      <p:sp>
        <p:nvSpPr>
          <p:cNvPr id="13" name="Text 8"/>
          <p:cNvSpPr/>
          <p:nvPr/>
        </p:nvSpPr>
        <p:spPr>
          <a:xfrm>
            <a:off x="1537930" y="5435084"/>
            <a:ext cx="5653207" cy="95261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Erfolgsgeschichten etablieren und ein positives Bild des Wandels zeichnen, um Motivation und Vertrauen zu stärken.</a:t>
            </a:r>
            <a:endParaRPr lang="en-US" sz="1550" dirty="0"/>
          </a:p>
        </p:txBody>
      </p:sp>
      <p:pic>
        <p:nvPicPr>
          <p:cNvPr id="1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39144" y="5005864"/>
            <a:ext cx="496133" cy="496133"/>
          </a:xfrm>
          <a:prstGeom prst="rect">
            <a:avLst/>
          </a:prstGeom>
        </p:spPr>
      </p:pic>
      <p:sp>
        <p:nvSpPr>
          <p:cNvPr id="15" name="Text 9"/>
          <p:cNvSpPr/>
          <p:nvPr/>
        </p:nvSpPr>
        <p:spPr>
          <a:xfrm>
            <a:off x="8183285" y="5005864"/>
            <a:ext cx="2999422"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8-Stufen-Modell (Kotter)</a:t>
            </a:r>
            <a:endParaRPr lang="en-US" sz="1950" dirty="0"/>
          </a:p>
        </p:txBody>
      </p:sp>
      <p:sp>
        <p:nvSpPr>
          <p:cNvPr id="16" name="Text 10"/>
          <p:cNvSpPr/>
          <p:nvPr/>
        </p:nvSpPr>
        <p:spPr>
          <a:xfrm>
            <a:off x="8183285" y="5435084"/>
            <a:ext cx="5653326" cy="95261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Das bewährte Kotter-Modell liefert einen strukturierten Rahmen für die erfolgreiche Umsetzung von Veränderungsprozessen.</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Shape 0"/>
          <p:cNvSpPr/>
          <p:nvPr/>
        </p:nvSpPr>
        <p:spPr>
          <a:xfrm>
            <a:off x="793790" y="2958465"/>
            <a:ext cx="1167765" cy="373142"/>
          </a:xfrm>
          <a:prstGeom prst="roundRect">
            <a:avLst>
              <a:gd name="adj" fmla="val 17872"/>
            </a:avLst>
          </a:prstGeom>
          <a:solidFill>
            <a:srgbClr val="3E0845"/>
          </a:solidFill>
          <a:ln/>
        </p:spPr>
        <p:txBody>
          <a:bodyPr/>
          <a:lstStyle/>
          <a:p>
            <a:endParaRPr lang="de-DE"/>
          </a:p>
        </p:txBody>
      </p:sp>
      <p:sp>
        <p:nvSpPr>
          <p:cNvPr id="4" name="Text 1"/>
          <p:cNvSpPr/>
          <p:nvPr/>
        </p:nvSpPr>
        <p:spPr>
          <a:xfrm>
            <a:off x="912852" y="3017996"/>
            <a:ext cx="929640" cy="254079"/>
          </a:xfrm>
          <a:prstGeom prst="rect">
            <a:avLst/>
          </a:prstGeom>
          <a:noFill/>
          <a:ln/>
        </p:spPr>
        <p:txBody>
          <a:bodyPr wrap="none" lIns="0" tIns="0" rIns="0" bIns="0" rtlCol="0" anchor="t"/>
          <a:lstStyle/>
          <a:p>
            <a:pPr marL="0" indent="0" algn="l">
              <a:lnSpc>
                <a:spcPts val="2000"/>
              </a:lnSpc>
              <a:buNone/>
            </a:pPr>
            <a:r>
              <a:rPr lang="en-US" sz="1250" dirty="0">
                <a:solidFill>
                  <a:srgbClr val="E5DCE6"/>
                </a:solidFill>
                <a:latin typeface="Montserrat" pitchFamily="34" charset="0"/>
                <a:ea typeface="Montserrat" pitchFamily="34" charset="-122"/>
                <a:cs typeface="Montserrat" pitchFamily="34" charset="-120"/>
              </a:rPr>
              <a:t>AUFGABE 3</a:t>
            </a:r>
            <a:endParaRPr lang="en-US" sz="1250" dirty="0"/>
          </a:p>
        </p:txBody>
      </p:sp>
      <p:sp>
        <p:nvSpPr>
          <p:cNvPr id="5" name="Text 2"/>
          <p:cNvSpPr/>
          <p:nvPr/>
        </p:nvSpPr>
        <p:spPr>
          <a:xfrm>
            <a:off x="793790" y="3410903"/>
            <a:ext cx="7556421" cy="1860233"/>
          </a:xfrm>
          <a:prstGeom prst="rect">
            <a:avLst/>
          </a:prstGeom>
          <a:noFill/>
          <a:ln/>
        </p:spPr>
        <p:txBody>
          <a:bodyPr wrap="squar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Versicherungsmakler: Rechtliche Stellung &amp; Zielmarktbestimmung</a:t>
            </a:r>
            <a:endParaRPr lang="en-US" sz="3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1716048"/>
            <a:ext cx="3285053" cy="388382"/>
          </a:xfrm>
          <a:prstGeom prst="roundRect">
            <a:avLst>
              <a:gd name="adj" fmla="val 17171"/>
            </a:avLst>
          </a:prstGeom>
          <a:noFill/>
          <a:ln w="7620">
            <a:solidFill>
              <a:srgbClr val="EEAEF6"/>
            </a:solidFill>
            <a:prstDash val="solid"/>
          </a:ln>
        </p:spPr>
        <p:txBody>
          <a:bodyPr/>
          <a:lstStyle/>
          <a:p>
            <a:endParaRPr lang="de-DE"/>
          </a:p>
        </p:txBody>
      </p:sp>
      <p:sp>
        <p:nvSpPr>
          <p:cNvPr id="3" name="Text 1"/>
          <p:cNvSpPr/>
          <p:nvPr/>
        </p:nvSpPr>
        <p:spPr>
          <a:xfrm>
            <a:off x="920472" y="1783199"/>
            <a:ext cx="3031688" cy="254079"/>
          </a:xfrm>
          <a:prstGeom prst="rect">
            <a:avLst/>
          </a:prstGeom>
          <a:noFill/>
          <a:ln/>
        </p:spPr>
        <p:txBody>
          <a:bodyPr wrap="none" lIns="0" tIns="0" rIns="0" bIns="0" rtlCol="0" anchor="t"/>
          <a:lstStyle/>
          <a:p>
            <a:pPr marL="0" indent="0" algn="l">
              <a:lnSpc>
                <a:spcPts val="2000"/>
              </a:lnSpc>
              <a:buNone/>
            </a:pPr>
            <a:r>
              <a:rPr lang="en-US" sz="1250" dirty="0">
                <a:solidFill>
                  <a:srgbClr val="EEAEF6"/>
                </a:solidFill>
                <a:latin typeface="Montserrat" pitchFamily="34" charset="0"/>
                <a:ea typeface="Montserrat" pitchFamily="34" charset="-122"/>
                <a:cs typeface="Montserrat" pitchFamily="34" charset="-120"/>
              </a:rPr>
              <a:t>AUFGABE 3 – RECHTLICHE STELLUNG</a:t>
            </a:r>
            <a:endParaRPr lang="en-US" sz="1250" dirty="0"/>
          </a:p>
        </p:txBody>
      </p:sp>
      <p:sp>
        <p:nvSpPr>
          <p:cNvPr id="4" name="Text 2"/>
          <p:cNvSpPr/>
          <p:nvPr/>
        </p:nvSpPr>
        <p:spPr>
          <a:xfrm>
            <a:off x="793790" y="2183725"/>
            <a:ext cx="10507147" cy="620078"/>
          </a:xfrm>
          <a:prstGeom prst="rect">
            <a:avLst/>
          </a:prstGeom>
          <a:noFill/>
          <a:ln/>
        </p:spPr>
        <p:txBody>
          <a:bodyPr wrap="non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Der Versicherungsmakler im Rechtsgefüge</a:t>
            </a:r>
            <a:endParaRPr lang="en-US" sz="3900" dirty="0"/>
          </a:p>
        </p:txBody>
      </p:sp>
      <p:sp>
        <p:nvSpPr>
          <p:cNvPr id="5" name="Shape 3"/>
          <p:cNvSpPr/>
          <p:nvPr/>
        </p:nvSpPr>
        <p:spPr>
          <a:xfrm>
            <a:off x="793790" y="3101459"/>
            <a:ext cx="4215289" cy="3411974"/>
          </a:xfrm>
          <a:prstGeom prst="roundRect">
            <a:avLst>
              <a:gd name="adj" fmla="val 3216"/>
            </a:avLst>
          </a:prstGeom>
          <a:solidFill>
            <a:srgbClr val="090E3F"/>
          </a:solidFill>
          <a:ln w="22860">
            <a:solidFill>
              <a:srgbClr val="414677"/>
            </a:solidFill>
            <a:prstDash val="solid"/>
          </a:ln>
        </p:spPr>
        <p:txBody>
          <a:bodyPr/>
          <a:lstStyle/>
          <a:p>
            <a:endParaRPr lang="de-DE"/>
          </a:p>
        </p:txBody>
      </p:sp>
      <p:sp>
        <p:nvSpPr>
          <p:cNvPr id="6" name="Shape 4"/>
          <p:cNvSpPr/>
          <p:nvPr/>
        </p:nvSpPr>
        <p:spPr>
          <a:xfrm>
            <a:off x="770930" y="3101459"/>
            <a:ext cx="91440" cy="3411974"/>
          </a:xfrm>
          <a:prstGeom prst="roundRect">
            <a:avLst>
              <a:gd name="adj" fmla="val 91163"/>
            </a:avLst>
          </a:prstGeom>
          <a:solidFill>
            <a:srgbClr val="EEAEF6"/>
          </a:solidFill>
          <a:ln/>
        </p:spPr>
        <p:txBody>
          <a:bodyPr/>
          <a:lstStyle/>
          <a:p>
            <a:endParaRPr lang="de-DE"/>
          </a:p>
        </p:txBody>
      </p:sp>
      <p:sp>
        <p:nvSpPr>
          <p:cNvPr id="7" name="Text 5"/>
          <p:cNvSpPr/>
          <p:nvPr/>
        </p:nvSpPr>
        <p:spPr>
          <a:xfrm>
            <a:off x="1083588" y="3322677"/>
            <a:ext cx="3148012"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Sachwalterurteil des BGH</a:t>
            </a:r>
            <a:endParaRPr lang="en-US" sz="1950" dirty="0"/>
          </a:p>
        </p:txBody>
      </p:sp>
      <p:sp>
        <p:nvSpPr>
          <p:cNvPr id="8" name="Text 6"/>
          <p:cNvSpPr/>
          <p:nvPr/>
        </p:nvSpPr>
        <p:spPr>
          <a:xfrm>
            <a:off x="1083588" y="3751898"/>
            <a:ext cx="3704273" cy="1905238"/>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Der Versicherungsmakler (VM) steht im Lager des Versicherungsnehmers (VN). Zwischen VN und VR kommt – auch konkludent – ein Versicherungsmaklervertrag zustande.</a:t>
            </a:r>
            <a:endParaRPr lang="en-US" sz="1550" dirty="0"/>
          </a:p>
        </p:txBody>
      </p:sp>
      <p:sp>
        <p:nvSpPr>
          <p:cNvPr id="9" name="Shape 7"/>
          <p:cNvSpPr/>
          <p:nvPr/>
        </p:nvSpPr>
        <p:spPr>
          <a:xfrm>
            <a:off x="5207437" y="3101459"/>
            <a:ext cx="4215408" cy="3411974"/>
          </a:xfrm>
          <a:prstGeom prst="roundRect">
            <a:avLst>
              <a:gd name="adj" fmla="val 3216"/>
            </a:avLst>
          </a:prstGeom>
          <a:solidFill>
            <a:srgbClr val="090E3F"/>
          </a:solidFill>
          <a:ln w="22860">
            <a:solidFill>
              <a:srgbClr val="414677"/>
            </a:solidFill>
            <a:prstDash val="solid"/>
          </a:ln>
        </p:spPr>
        <p:txBody>
          <a:bodyPr/>
          <a:lstStyle/>
          <a:p>
            <a:endParaRPr lang="de-DE"/>
          </a:p>
        </p:txBody>
      </p:sp>
      <p:sp>
        <p:nvSpPr>
          <p:cNvPr id="10" name="Shape 8"/>
          <p:cNvSpPr/>
          <p:nvPr/>
        </p:nvSpPr>
        <p:spPr>
          <a:xfrm>
            <a:off x="5184577" y="3101459"/>
            <a:ext cx="91440" cy="3411974"/>
          </a:xfrm>
          <a:prstGeom prst="roundRect">
            <a:avLst>
              <a:gd name="adj" fmla="val 91163"/>
            </a:avLst>
          </a:prstGeom>
          <a:solidFill>
            <a:srgbClr val="EEAEF6"/>
          </a:solidFill>
          <a:ln/>
        </p:spPr>
        <p:txBody>
          <a:bodyPr/>
          <a:lstStyle/>
          <a:p>
            <a:endParaRPr lang="de-DE"/>
          </a:p>
        </p:txBody>
      </p:sp>
      <p:sp>
        <p:nvSpPr>
          <p:cNvPr id="11" name="Text 9"/>
          <p:cNvSpPr/>
          <p:nvPr/>
        </p:nvSpPr>
        <p:spPr>
          <a:xfrm>
            <a:off x="5497235" y="332267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Verhältnis VM – VR</a:t>
            </a:r>
            <a:endParaRPr lang="en-US" sz="1950" dirty="0"/>
          </a:p>
        </p:txBody>
      </p:sp>
      <p:sp>
        <p:nvSpPr>
          <p:cNvPr id="12" name="Text 10"/>
          <p:cNvSpPr/>
          <p:nvPr/>
        </p:nvSpPr>
        <p:spPr>
          <a:xfrm>
            <a:off x="5497235" y="3751898"/>
            <a:ext cx="3704392" cy="127015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Zwischen VM und VR besteht lediglich eine schwache vertragliche Bindung in Form einer Courtagezusage.</a:t>
            </a:r>
            <a:endParaRPr lang="en-US" sz="1550" dirty="0"/>
          </a:p>
        </p:txBody>
      </p:sp>
      <p:sp>
        <p:nvSpPr>
          <p:cNvPr id="13" name="Shape 11"/>
          <p:cNvSpPr/>
          <p:nvPr/>
        </p:nvSpPr>
        <p:spPr>
          <a:xfrm>
            <a:off x="9621203" y="3101459"/>
            <a:ext cx="4215289" cy="3411974"/>
          </a:xfrm>
          <a:prstGeom prst="roundRect">
            <a:avLst>
              <a:gd name="adj" fmla="val 3216"/>
            </a:avLst>
          </a:prstGeom>
          <a:solidFill>
            <a:srgbClr val="090E3F"/>
          </a:solidFill>
          <a:ln w="22860">
            <a:solidFill>
              <a:srgbClr val="414677"/>
            </a:solidFill>
            <a:prstDash val="solid"/>
          </a:ln>
        </p:spPr>
        <p:txBody>
          <a:bodyPr/>
          <a:lstStyle/>
          <a:p>
            <a:endParaRPr lang="de-DE"/>
          </a:p>
        </p:txBody>
      </p:sp>
      <p:sp>
        <p:nvSpPr>
          <p:cNvPr id="14" name="Shape 12"/>
          <p:cNvSpPr/>
          <p:nvPr/>
        </p:nvSpPr>
        <p:spPr>
          <a:xfrm>
            <a:off x="9598343" y="3101459"/>
            <a:ext cx="91440" cy="3411974"/>
          </a:xfrm>
          <a:prstGeom prst="roundRect">
            <a:avLst>
              <a:gd name="adj" fmla="val 91163"/>
            </a:avLst>
          </a:prstGeom>
          <a:solidFill>
            <a:srgbClr val="EEAEF6"/>
          </a:solidFill>
          <a:ln/>
        </p:spPr>
        <p:txBody>
          <a:bodyPr/>
          <a:lstStyle/>
          <a:p>
            <a:endParaRPr lang="de-DE"/>
          </a:p>
        </p:txBody>
      </p:sp>
      <p:sp>
        <p:nvSpPr>
          <p:cNvPr id="15" name="Text 13"/>
          <p:cNvSpPr/>
          <p:nvPr/>
        </p:nvSpPr>
        <p:spPr>
          <a:xfrm>
            <a:off x="9911001" y="3322677"/>
            <a:ext cx="3657600"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Onlineportal des Versicherers</a:t>
            </a:r>
            <a:endParaRPr lang="en-US" sz="1950" dirty="0"/>
          </a:p>
        </p:txBody>
      </p:sp>
      <p:sp>
        <p:nvSpPr>
          <p:cNvPr id="16" name="Text 14"/>
          <p:cNvSpPr/>
          <p:nvPr/>
        </p:nvSpPr>
        <p:spPr>
          <a:xfrm>
            <a:off x="9911001" y="3751898"/>
            <a:ext cx="3704273" cy="2540318"/>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Kann beim Makler das Gefühl wecken, der Versicherer stelle sich zwischen ihn und den Kunden. Fehlen eigene digitale Lösungen, kann das Portal jedoch die Kundenbindung erhöhen und ein Entscheidungskriterium für Versicherer A oder B sein.</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90707" y="448985"/>
            <a:ext cx="2807018" cy="302776"/>
          </a:xfrm>
          <a:prstGeom prst="roundRect">
            <a:avLst>
              <a:gd name="adj" fmla="val 18082"/>
            </a:avLst>
          </a:prstGeom>
          <a:noFill/>
          <a:ln w="7620">
            <a:solidFill>
              <a:srgbClr val="EEAEF6"/>
            </a:solidFill>
            <a:prstDash val="solid"/>
          </a:ln>
        </p:spPr>
        <p:txBody>
          <a:bodyPr/>
          <a:lstStyle/>
          <a:p>
            <a:endParaRPr lang="de-DE"/>
          </a:p>
        </p:txBody>
      </p:sp>
      <p:sp>
        <p:nvSpPr>
          <p:cNvPr id="3" name="Text 1"/>
          <p:cNvSpPr/>
          <p:nvPr/>
        </p:nvSpPr>
        <p:spPr>
          <a:xfrm>
            <a:off x="996077" y="505420"/>
            <a:ext cx="2596277" cy="189905"/>
          </a:xfrm>
          <a:prstGeom prst="rect">
            <a:avLst/>
          </a:prstGeom>
          <a:noFill/>
          <a:ln/>
        </p:spPr>
        <p:txBody>
          <a:bodyPr wrap="none" lIns="0" tIns="0" rIns="0" bIns="0" rtlCol="0" anchor="t"/>
          <a:lstStyle/>
          <a:p>
            <a:pPr marL="0" indent="0" algn="l">
              <a:lnSpc>
                <a:spcPts val="1450"/>
              </a:lnSpc>
              <a:buNone/>
            </a:pPr>
            <a:r>
              <a:rPr lang="en-US" sz="1000" dirty="0">
                <a:solidFill>
                  <a:srgbClr val="EEAEF6"/>
                </a:solidFill>
                <a:latin typeface="Montserrat" pitchFamily="34" charset="0"/>
                <a:ea typeface="Montserrat" pitchFamily="34" charset="-122"/>
                <a:cs typeface="Montserrat" pitchFamily="34" charset="-120"/>
              </a:rPr>
              <a:t>AUFGABE 3 – ZIELMARKTBESTIMMUNG</a:t>
            </a:r>
            <a:endParaRPr lang="en-US" sz="1000" dirty="0"/>
          </a:p>
        </p:txBody>
      </p:sp>
      <p:sp>
        <p:nvSpPr>
          <p:cNvPr id="4" name="Text 2"/>
          <p:cNvSpPr/>
          <p:nvPr/>
        </p:nvSpPr>
        <p:spPr>
          <a:xfrm>
            <a:off x="890707" y="805220"/>
            <a:ext cx="10071973" cy="509111"/>
          </a:xfrm>
          <a:prstGeom prst="rect">
            <a:avLst/>
          </a:prstGeom>
          <a:noFill/>
          <a:ln/>
        </p:spPr>
        <p:txBody>
          <a:bodyPr wrap="none" lIns="0" tIns="0" rIns="0" bIns="0" rtlCol="0" anchor="t"/>
          <a:lstStyle/>
          <a:p>
            <a:pPr marL="0" indent="0" algn="l">
              <a:lnSpc>
                <a:spcPts val="4000"/>
              </a:lnSpc>
              <a:buNone/>
            </a:pPr>
            <a:r>
              <a:rPr lang="en-US" sz="3200" b="1" dirty="0">
                <a:solidFill>
                  <a:srgbClr val="EEAEF6"/>
                </a:solidFill>
                <a:latin typeface="Bricolage Grotesque Extra Bold" pitchFamily="34" charset="0"/>
                <a:ea typeface="Bricolage Grotesque Extra Bold" pitchFamily="34" charset="-122"/>
                <a:cs typeface="Bricolage Grotesque Extra Bold" pitchFamily="34" charset="-120"/>
              </a:rPr>
              <a:t>Segmentierung und Zielmarkt im Vorsorgebereich</a:t>
            </a:r>
            <a:endParaRPr lang="en-US" sz="3200" dirty="0"/>
          </a:p>
        </p:txBody>
      </p:sp>
      <p:pic>
        <p:nvPicPr>
          <p:cNvPr id="5" name="Image 0" descr="preencoded.png"/>
          <p:cNvPicPr>
            <a:picLocks noChangeAspect="1"/>
          </p:cNvPicPr>
          <p:nvPr/>
        </p:nvPicPr>
        <p:blipFill>
          <a:blip r:embed="rId3"/>
          <a:stretch>
            <a:fillRect/>
          </a:stretch>
        </p:blipFill>
        <p:spPr>
          <a:xfrm>
            <a:off x="890707" y="1514951"/>
            <a:ext cx="12848868" cy="5640348"/>
          </a:xfrm>
          <a:prstGeom prst="rect">
            <a:avLst/>
          </a:prstGeom>
        </p:spPr>
      </p:pic>
      <p:sp>
        <p:nvSpPr>
          <p:cNvPr id="6" name="Text 3"/>
          <p:cNvSpPr/>
          <p:nvPr/>
        </p:nvSpPr>
        <p:spPr>
          <a:xfrm>
            <a:off x="3070330" y="5329223"/>
            <a:ext cx="2252303" cy="348055"/>
          </a:xfrm>
          <a:prstGeom prst="rect">
            <a:avLst/>
          </a:prstGeom>
          <a:noFill/>
          <a:ln/>
        </p:spPr>
        <p:txBody>
          <a:bodyPr wrap="none" lIns="0" tIns="0" rIns="0" bIns="0" rtlCol="0" anchor="t"/>
          <a:lstStyle/>
          <a:p>
            <a:pPr marL="0" indent="0" algn="ctr">
              <a:lnSpc>
                <a:spcPts val="2700"/>
              </a:lnSpc>
              <a:buNone/>
            </a:pPr>
            <a:r>
              <a:rPr lang="en-US" sz="2150" b="1" dirty="0">
                <a:solidFill>
                  <a:srgbClr val="EEAEF6"/>
                </a:solidFill>
                <a:latin typeface="Bricolage Grotesque Extra Bold" pitchFamily="34" charset="0"/>
                <a:ea typeface="Bricolage Grotesque Extra Bold" pitchFamily="34" charset="-122"/>
                <a:cs typeface="Bricolage Grotesque Extra Bold" pitchFamily="34" charset="-120"/>
              </a:rPr>
              <a:t>Segmentierung</a:t>
            </a:r>
            <a:endParaRPr lang="en-US" sz="2150" dirty="0"/>
          </a:p>
        </p:txBody>
      </p:sp>
      <p:sp>
        <p:nvSpPr>
          <p:cNvPr id="7" name="Text 4"/>
          <p:cNvSpPr/>
          <p:nvPr/>
        </p:nvSpPr>
        <p:spPr>
          <a:xfrm>
            <a:off x="3070330" y="5776280"/>
            <a:ext cx="2252303" cy="760501"/>
          </a:xfrm>
          <a:prstGeom prst="rect">
            <a:avLst/>
          </a:prstGeom>
          <a:noFill/>
          <a:ln/>
        </p:spPr>
        <p:txBody>
          <a:bodyPr wrap="square" lIns="0" tIns="0" rIns="0" bIns="0" rtlCol="0" anchor="t"/>
          <a:lstStyle/>
          <a:p>
            <a:pPr marL="0" indent="0" algn="ctr">
              <a:lnSpc>
                <a:spcPts val="1950"/>
              </a:lnSpc>
              <a:buNone/>
            </a:pPr>
            <a:r>
              <a:rPr lang="en-US" sz="1750" dirty="0">
                <a:solidFill>
                  <a:srgbClr val="E5DCE6"/>
                </a:solidFill>
                <a:latin typeface="Montserrat" pitchFamily="34" charset="0"/>
                <a:ea typeface="Montserrat" pitchFamily="34" charset="-122"/>
                <a:cs typeface="Montserrat" pitchFamily="34" charset="-120"/>
              </a:rPr>
              <a:t>Alter, Geschlecht, Beruf, Familienstand</a:t>
            </a:r>
            <a:endParaRPr lang="en-US" sz="1750" dirty="0"/>
          </a:p>
        </p:txBody>
      </p:sp>
      <p:sp>
        <p:nvSpPr>
          <p:cNvPr id="8" name="Text 5"/>
          <p:cNvSpPr/>
          <p:nvPr/>
        </p:nvSpPr>
        <p:spPr>
          <a:xfrm>
            <a:off x="9394106" y="5242596"/>
            <a:ext cx="2252303" cy="348055"/>
          </a:xfrm>
          <a:prstGeom prst="rect">
            <a:avLst/>
          </a:prstGeom>
          <a:noFill/>
          <a:ln/>
        </p:spPr>
        <p:txBody>
          <a:bodyPr wrap="none" lIns="0" tIns="0" rIns="0" bIns="0" rtlCol="0" anchor="t"/>
          <a:lstStyle/>
          <a:p>
            <a:pPr marL="0" indent="0" algn="ctr">
              <a:lnSpc>
                <a:spcPts val="2700"/>
              </a:lnSpc>
              <a:buNone/>
            </a:pPr>
            <a:r>
              <a:rPr lang="en-US" sz="2150" b="1" dirty="0">
                <a:solidFill>
                  <a:srgbClr val="EEAEF6"/>
                </a:solidFill>
                <a:latin typeface="Bricolage Grotesque Extra Bold" pitchFamily="34" charset="0"/>
                <a:ea typeface="Bricolage Grotesque Extra Bold" pitchFamily="34" charset="-122"/>
                <a:cs typeface="Bricolage Grotesque Extra Bold" pitchFamily="34" charset="-120"/>
              </a:rPr>
              <a:t>Kommunikation</a:t>
            </a:r>
            <a:endParaRPr lang="en-US" sz="2150" dirty="0"/>
          </a:p>
        </p:txBody>
      </p:sp>
      <p:sp>
        <p:nvSpPr>
          <p:cNvPr id="9" name="Text 6"/>
          <p:cNvSpPr/>
          <p:nvPr/>
        </p:nvSpPr>
        <p:spPr>
          <a:xfrm>
            <a:off x="9394106" y="5689654"/>
            <a:ext cx="2252303" cy="760501"/>
          </a:xfrm>
          <a:prstGeom prst="rect">
            <a:avLst/>
          </a:prstGeom>
          <a:noFill/>
          <a:ln/>
        </p:spPr>
        <p:txBody>
          <a:bodyPr wrap="square" lIns="0" tIns="0" rIns="0" bIns="0" rtlCol="0" anchor="t"/>
          <a:lstStyle/>
          <a:p>
            <a:pPr marL="0" indent="0" algn="ctr">
              <a:lnSpc>
                <a:spcPts val="1950"/>
              </a:lnSpc>
              <a:buNone/>
            </a:pPr>
            <a:r>
              <a:rPr lang="en-US" sz="1750" dirty="0">
                <a:solidFill>
                  <a:srgbClr val="E5DCE6"/>
                </a:solidFill>
                <a:latin typeface="Montserrat" pitchFamily="34" charset="0"/>
                <a:ea typeface="Montserrat" pitchFamily="34" charset="-122"/>
                <a:cs typeface="Montserrat" pitchFamily="34" charset="-120"/>
              </a:rPr>
              <a:t>Social Media, Apps, keine Ratenzuschläge</a:t>
            </a:r>
            <a:endParaRPr lang="en-US" sz="1750" dirty="0"/>
          </a:p>
        </p:txBody>
      </p:sp>
      <p:sp>
        <p:nvSpPr>
          <p:cNvPr id="10" name="Text 7"/>
          <p:cNvSpPr/>
          <p:nvPr/>
        </p:nvSpPr>
        <p:spPr>
          <a:xfrm>
            <a:off x="6250781" y="2106426"/>
            <a:ext cx="2252304" cy="348055"/>
          </a:xfrm>
          <a:prstGeom prst="rect">
            <a:avLst/>
          </a:prstGeom>
          <a:noFill/>
          <a:ln/>
        </p:spPr>
        <p:txBody>
          <a:bodyPr wrap="none" lIns="0" tIns="0" rIns="0" bIns="0" rtlCol="0" anchor="t"/>
          <a:lstStyle/>
          <a:p>
            <a:pPr marL="0" indent="0" algn="ctr">
              <a:lnSpc>
                <a:spcPts val="2700"/>
              </a:lnSpc>
              <a:buNone/>
            </a:pPr>
            <a:r>
              <a:rPr lang="en-US" sz="2150" b="1" dirty="0">
                <a:solidFill>
                  <a:srgbClr val="EEAEF6"/>
                </a:solidFill>
                <a:latin typeface="Bricolage Grotesque Extra Bold" pitchFamily="34" charset="0"/>
                <a:ea typeface="Bricolage Grotesque Extra Bold" pitchFamily="34" charset="-122"/>
                <a:cs typeface="Bricolage Grotesque Extra Bold" pitchFamily="34" charset="-120"/>
              </a:rPr>
              <a:t>Bedarfsanalyse</a:t>
            </a:r>
            <a:endParaRPr lang="en-US" sz="2150" dirty="0"/>
          </a:p>
        </p:txBody>
      </p:sp>
      <p:sp>
        <p:nvSpPr>
          <p:cNvPr id="11" name="Text 8"/>
          <p:cNvSpPr/>
          <p:nvPr/>
        </p:nvSpPr>
        <p:spPr>
          <a:xfrm>
            <a:off x="6250781" y="2553483"/>
            <a:ext cx="2252304" cy="760500"/>
          </a:xfrm>
          <a:prstGeom prst="rect">
            <a:avLst/>
          </a:prstGeom>
          <a:noFill/>
          <a:ln/>
        </p:spPr>
        <p:txBody>
          <a:bodyPr wrap="square" lIns="0" tIns="0" rIns="0" bIns="0" rtlCol="0" anchor="t"/>
          <a:lstStyle/>
          <a:p>
            <a:pPr marL="0" indent="0" algn="ctr">
              <a:lnSpc>
                <a:spcPts val="1950"/>
              </a:lnSpc>
              <a:buNone/>
            </a:pPr>
            <a:r>
              <a:rPr lang="en-US" sz="1750" dirty="0">
                <a:solidFill>
                  <a:srgbClr val="E5DCE6"/>
                </a:solidFill>
                <a:latin typeface="Montserrat" pitchFamily="34" charset="0"/>
                <a:ea typeface="Montserrat" pitchFamily="34" charset="-122"/>
                <a:cs typeface="Montserrat" pitchFamily="34" charset="-120"/>
              </a:rPr>
              <a:t>Beispiel: 18–25, preissensitiv, Einstiegsprodukte</a:t>
            </a:r>
            <a:endParaRPr lang="en-US" sz="1750" dirty="0"/>
          </a:p>
        </p:txBody>
      </p:sp>
      <p:sp>
        <p:nvSpPr>
          <p:cNvPr id="12" name="Text 9"/>
          <p:cNvSpPr/>
          <p:nvPr/>
        </p:nvSpPr>
        <p:spPr>
          <a:xfrm>
            <a:off x="890707" y="7305675"/>
            <a:ext cx="12848868" cy="474821"/>
          </a:xfrm>
          <a:prstGeom prst="rect">
            <a:avLst/>
          </a:prstGeom>
          <a:noFill/>
          <a:ln/>
        </p:spPr>
        <p:txBody>
          <a:bodyPr wrap="square" lIns="0" tIns="0" rIns="0" bIns="0" rtlCol="0" anchor="t"/>
          <a:lstStyle/>
          <a:p>
            <a:pPr marL="0" indent="0" algn="l">
              <a:lnSpc>
                <a:spcPts val="1850"/>
              </a:lnSpc>
              <a:buNone/>
            </a:pPr>
            <a:r>
              <a:rPr lang="en-US" sz="1250" dirty="0">
                <a:solidFill>
                  <a:srgbClr val="E5DCE6"/>
                </a:solidFill>
                <a:latin typeface="Montserrat" pitchFamily="34" charset="0"/>
                <a:ea typeface="Montserrat" pitchFamily="34" charset="-122"/>
                <a:cs typeface="Montserrat" pitchFamily="34" charset="-120"/>
              </a:rPr>
              <a:t>Demografische Merkmale sind leicht zu erheben und quantitativ zu analysieren. Identifizierte Produkte werden über digitale Kanäle kommuniziert und mit Servicemerkmalen wie smarten Apps kombiniert.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Shape 0"/>
          <p:cNvSpPr/>
          <p:nvPr/>
        </p:nvSpPr>
        <p:spPr>
          <a:xfrm>
            <a:off x="6280190" y="2958465"/>
            <a:ext cx="1183124" cy="373142"/>
          </a:xfrm>
          <a:prstGeom prst="roundRect">
            <a:avLst>
              <a:gd name="adj" fmla="val 17872"/>
            </a:avLst>
          </a:prstGeom>
          <a:solidFill>
            <a:srgbClr val="3E0845"/>
          </a:solidFill>
          <a:ln/>
        </p:spPr>
        <p:txBody>
          <a:bodyPr/>
          <a:lstStyle/>
          <a:p>
            <a:endParaRPr lang="de-DE"/>
          </a:p>
        </p:txBody>
      </p:sp>
      <p:sp>
        <p:nvSpPr>
          <p:cNvPr id="4" name="Text 1"/>
          <p:cNvSpPr/>
          <p:nvPr/>
        </p:nvSpPr>
        <p:spPr>
          <a:xfrm>
            <a:off x="6399252" y="3017996"/>
            <a:ext cx="944999" cy="254079"/>
          </a:xfrm>
          <a:prstGeom prst="rect">
            <a:avLst/>
          </a:prstGeom>
          <a:noFill/>
          <a:ln/>
        </p:spPr>
        <p:txBody>
          <a:bodyPr wrap="none" lIns="0" tIns="0" rIns="0" bIns="0" rtlCol="0" anchor="t"/>
          <a:lstStyle/>
          <a:p>
            <a:pPr marL="0" indent="0" algn="l">
              <a:lnSpc>
                <a:spcPts val="2000"/>
              </a:lnSpc>
              <a:buNone/>
            </a:pPr>
            <a:r>
              <a:rPr lang="en-US" sz="1250" dirty="0">
                <a:solidFill>
                  <a:srgbClr val="E5DCE6"/>
                </a:solidFill>
                <a:latin typeface="Montserrat" pitchFamily="34" charset="0"/>
                <a:ea typeface="Montserrat" pitchFamily="34" charset="-122"/>
                <a:cs typeface="Montserrat" pitchFamily="34" charset="-120"/>
              </a:rPr>
              <a:t>AUFGABE 4</a:t>
            </a:r>
            <a:endParaRPr lang="en-US" sz="1250" dirty="0"/>
          </a:p>
        </p:txBody>
      </p:sp>
      <p:sp>
        <p:nvSpPr>
          <p:cNvPr id="5" name="Text 2"/>
          <p:cNvSpPr/>
          <p:nvPr/>
        </p:nvSpPr>
        <p:spPr>
          <a:xfrm>
            <a:off x="6280190" y="3410903"/>
            <a:ext cx="7556421" cy="1860233"/>
          </a:xfrm>
          <a:prstGeom prst="rect">
            <a:avLst/>
          </a:prstGeom>
          <a:noFill/>
          <a:ln/>
        </p:spPr>
        <p:txBody>
          <a:bodyPr wrap="squar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Datenschutz-Grundverordnung (DSGVO) und Kaltakquise</a:t>
            </a:r>
            <a:endParaRPr lang="en-US" sz="3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93790" y="1786057"/>
            <a:ext cx="1198364" cy="388382"/>
          </a:xfrm>
          <a:prstGeom prst="roundRect">
            <a:avLst>
              <a:gd name="adj" fmla="val 17171"/>
            </a:avLst>
          </a:prstGeom>
          <a:noFill/>
          <a:ln w="7620">
            <a:solidFill>
              <a:srgbClr val="EEAEF6"/>
            </a:solidFill>
            <a:prstDash val="solid"/>
          </a:ln>
        </p:spPr>
        <p:txBody>
          <a:bodyPr/>
          <a:lstStyle/>
          <a:p>
            <a:endParaRPr lang="de-DE"/>
          </a:p>
        </p:txBody>
      </p:sp>
      <p:sp>
        <p:nvSpPr>
          <p:cNvPr id="3" name="Text 1"/>
          <p:cNvSpPr/>
          <p:nvPr/>
        </p:nvSpPr>
        <p:spPr>
          <a:xfrm>
            <a:off x="920472" y="1853208"/>
            <a:ext cx="944999" cy="254079"/>
          </a:xfrm>
          <a:prstGeom prst="rect">
            <a:avLst/>
          </a:prstGeom>
          <a:noFill/>
          <a:ln/>
        </p:spPr>
        <p:txBody>
          <a:bodyPr wrap="none" lIns="0" tIns="0" rIns="0" bIns="0" rtlCol="0" anchor="t"/>
          <a:lstStyle/>
          <a:p>
            <a:pPr marL="0" indent="0" algn="l">
              <a:lnSpc>
                <a:spcPts val="2000"/>
              </a:lnSpc>
              <a:buNone/>
            </a:pPr>
            <a:r>
              <a:rPr lang="en-US" sz="1250" dirty="0">
                <a:solidFill>
                  <a:srgbClr val="EEAEF6"/>
                </a:solidFill>
                <a:latin typeface="Montserrat" pitchFamily="34" charset="0"/>
                <a:ea typeface="Montserrat" pitchFamily="34" charset="-122"/>
                <a:cs typeface="Montserrat" pitchFamily="34" charset="-120"/>
              </a:rPr>
              <a:t>AUFGABE 4</a:t>
            </a:r>
            <a:endParaRPr lang="en-US" sz="1250" dirty="0"/>
          </a:p>
        </p:txBody>
      </p:sp>
      <p:sp>
        <p:nvSpPr>
          <p:cNvPr id="4" name="Text 2"/>
          <p:cNvSpPr/>
          <p:nvPr/>
        </p:nvSpPr>
        <p:spPr>
          <a:xfrm>
            <a:off x="793790" y="2253734"/>
            <a:ext cx="10442734" cy="620078"/>
          </a:xfrm>
          <a:prstGeom prst="rect">
            <a:avLst/>
          </a:prstGeom>
          <a:noFill/>
          <a:ln/>
        </p:spPr>
        <p:txBody>
          <a:bodyPr wrap="non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DSGVO: Zulässigkeit der Kontaktaufnahme</a:t>
            </a:r>
            <a:endParaRPr lang="en-US" sz="3900" dirty="0"/>
          </a:p>
        </p:txBody>
      </p:sp>
      <p:sp>
        <p:nvSpPr>
          <p:cNvPr id="5" name="Text 3"/>
          <p:cNvSpPr/>
          <p:nvPr/>
        </p:nvSpPr>
        <p:spPr>
          <a:xfrm>
            <a:off x="793790" y="3171468"/>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Ziel der DSGVO ist der Schutz natürlicher Personen bei der Verarbeitung personenbezogener Daten.</a:t>
            </a:r>
            <a:endParaRPr lang="en-US" sz="1550" dirty="0"/>
          </a:p>
        </p:txBody>
      </p:sp>
      <p:sp>
        <p:nvSpPr>
          <p:cNvPr id="6" name="Shape 4"/>
          <p:cNvSpPr/>
          <p:nvPr/>
        </p:nvSpPr>
        <p:spPr>
          <a:xfrm>
            <a:off x="793790" y="3712250"/>
            <a:ext cx="4215289" cy="2731175"/>
          </a:xfrm>
          <a:prstGeom prst="roundRect">
            <a:avLst>
              <a:gd name="adj" fmla="val 3052"/>
            </a:avLst>
          </a:prstGeom>
          <a:solidFill>
            <a:srgbClr val="282D5E"/>
          </a:solidFill>
          <a:ln/>
        </p:spPr>
        <p:txBody>
          <a:bodyPr/>
          <a:lstStyle/>
          <a:p>
            <a:endParaRPr lang="de-DE"/>
          </a:p>
        </p:txBody>
      </p:sp>
      <p:sp>
        <p:nvSpPr>
          <p:cNvPr id="7" name="Text 5"/>
          <p:cNvSpPr/>
          <p:nvPr/>
        </p:nvSpPr>
        <p:spPr>
          <a:xfrm>
            <a:off x="992148" y="391060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Telefon – B2B</a:t>
            </a:r>
            <a:endParaRPr lang="en-US" sz="1950" dirty="0"/>
          </a:p>
        </p:txBody>
      </p:sp>
      <p:sp>
        <p:nvSpPr>
          <p:cNvPr id="8" name="Text 6"/>
          <p:cNvSpPr/>
          <p:nvPr/>
        </p:nvSpPr>
        <p:spPr>
          <a:xfrm>
            <a:off x="992148" y="4339828"/>
            <a:ext cx="3818573" cy="1905238"/>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Kaltakquise grundsätzlich einwilligungspflichtig. Einwilligung wird </a:t>
            </a:r>
            <a:r>
              <a:rPr lang="en-US" sz="1550" b="1" dirty="0">
                <a:solidFill>
                  <a:srgbClr val="E5DCE6"/>
                </a:solidFill>
                <a:latin typeface="Montserrat" pitchFamily="34" charset="0"/>
                <a:ea typeface="Montserrat" pitchFamily="34" charset="-122"/>
                <a:cs typeface="Montserrat" pitchFamily="34" charset="-120"/>
              </a:rPr>
              <a:t>unterstellt</a:t>
            </a:r>
            <a:r>
              <a:rPr lang="en-US" sz="1550" dirty="0">
                <a:solidFill>
                  <a:srgbClr val="E5DCE6"/>
                </a:solidFill>
                <a:latin typeface="Montserrat" pitchFamily="34" charset="0"/>
                <a:ea typeface="Montserrat" pitchFamily="34" charset="-122"/>
                <a:cs typeface="Montserrat" pitchFamily="34" charset="-120"/>
              </a:rPr>
              <a:t>, wenn das Produkt für das kontaktierte Unternehmen mutmaßlich von Interesse ist. Stets Einzelfallentscheidung.</a:t>
            </a:r>
            <a:endParaRPr lang="en-US" sz="1550" dirty="0"/>
          </a:p>
        </p:txBody>
      </p:sp>
      <p:sp>
        <p:nvSpPr>
          <p:cNvPr id="9" name="Shape 7"/>
          <p:cNvSpPr/>
          <p:nvPr/>
        </p:nvSpPr>
        <p:spPr>
          <a:xfrm>
            <a:off x="5207437" y="3712250"/>
            <a:ext cx="4215408" cy="2731175"/>
          </a:xfrm>
          <a:prstGeom prst="roundRect">
            <a:avLst>
              <a:gd name="adj" fmla="val 3052"/>
            </a:avLst>
          </a:prstGeom>
          <a:solidFill>
            <a:srgbClr val="282D5E"/>
          </a:solidFill>
          <a:ln/>
        </p:spPr>
        <p:txBody>
          <a:bodyPr/>
          <a:lstStyle/>
          <a:p>
            <a:endParaRPr lang="de-DE"/>
          </a:p>
        </p:txBody>
      </p:sp>
      <p:sp>
        <p:nvSpPr>
          <p:cNvPr id="10" name="Text 8"/>
          <p:cNvSpPr/>
          <p:nvPr/>
        </p:nvSpPr>
        <p:spPr>
          <a:xfrm>
            <a:off x="5405795" y="391060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E-Mail – B2C &amp; B2B</a:t>
            </a:r>
            <a:endParaRPr lang="en-US" sz="1950" dirty="0"/>
          </a:p>
        </p:txBody>
      </p:sp>
      <p:sp>
        <p:nvSpPr>
          <p:cNvPr id="11" name="Text 9"/>
          <p:cNvSpPr/>
          <p:nvPr/>
        </p:nvSpPr>
        <p:spPr>
          <a:xfrm>
            <a:off x="5405795" y="4339828"/>
            <a:ext cx="3818692" cy="127015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Kontaktaufnahme per E-Mail ist ohne vorherige Einwilligung sowohl im B2C- als auch im B2B-Bereich grundsätzlich </a:t>
            </a:r>
            <a:r>
              <a:rPr lang="en-US" sz="1550" b="1" dirty="0">
                <a:solidFill>
                  <a:srgbClr val="E5DCE6"/>
                </a:solidFill>
                <a:latin typeface="Montserrat" pitchFamily="34" charset="0"/>
                <a:ea typeface="Montserrat" pitchFamily="34" charset="-122"/>
                <a:cs typeface="Montserrat" pitchFamily="34" charset="-120"/>
              </a:rPr>
              <a:t>unzulässig</a:t>
            </a:r>
            <a:r>
              <a:rPr lang="en-US" sz="1550" dirty="0">
                <a:solidFill>
                  <a:srgbClr val="E5DCE6"/>
                </a:solidFill>
                <a:latin typeface="Montserrat" pitchFamily="34" charset="0"/>
                <a:ea typeface="Montserrat" pitchFamily="34" charset="-122"/>
                <a:cs typeface="Montserrat" pitchFamily="34" charset="-120"/>
              </a:rPr>
              <a:t>.</a:t>
            </a:r>
            <a:endParaRPr lang="en-US" sz="1550" dirty="0"/>
          </a:p>
        </p:txBody>
      </p:sp>
      <p:sp>
        <p:nvSpPr>
          <p:cNvPr id="12" name="Shape 10"/>
          <p:cNvSpPr/>
          <p:nvPr/>
        </p:nvSpPr>
        <p:spPr>
          <a:xfrm>
            <a:off x="9621203" y="3712250"/>
            <a:ext cx="4215289" cy="2731175"/>
          </a:xfrm>
          <a:prstGeom prst="roundRect">
            <a:avLst>
              <a:gd name="adj" fmla="val 3052"/>
            </a:avLst>
          </a:prstGeom>
          <a:solidFill>
            <a:srgbClr val="282D5E"/>
          </a:solidFill>
          <a:ln/>
        </p:spPr>
        <p:txBody>
          <a:bodyPr/>
          <a:lstStyle/>
          <a:p>
            <a:endParaRPr lang="de-DE"/>
          </a:p>
        </p:txBody>
      </p:sp>
      <p:sp>
        <p:nvSpPr>
          <p:cNvPr id="13" name="Text 11"/>
          <p:cNvSpPr/>
          <p:nvPr/>
        </p:nvSpPr>
        <p:spPr>
          <a:xfrm>
            <a:off x="9819561" y="391060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Post – B2C &amp; B2B</a:t>
            </a:r>
            <a:endParaRPr lang="en-US" sz="1950" dirty="0"/>
          </a:p>
        </p:txBody>
      </p:sp>
      <p:sp>
        <p:nvSpPr>
          <p:cNvPr id="14" name="Text 12"/>
          <p:cNvSpPr/>
          <p:nvPr/>
        </p:nvSpPr>
        <p:spPr>
          <a:xfrm>
            <a:off x="9819561" y="4339828"/>
            <a:ext cx="3818573" cy="95261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Kontaktaufnahme per Post ist grundsätzlich </a:t>
            </a:r>
            <a:r>
              <a:rPr lang="en-US" sz="1550" b="1" dirty="0">
                <a:solidFill>
                  <a:srgbClr val="E5DCE6"/>
                </a:solidFill>
                <a:latin typeface="Montserrat" pitchFamily="34" charset="0"/>
                <a:ea typeface="Montserrat" pitchFamily="34" charset="-122"/>
                <a:cs typeface="Montserrat" pitchFamily="34" charset="-120"/>
              </a:rPr>
              <a:t>zulässig</a:t>
            </a:r>
            <a:r>
              <a:rPr lang="en-US" sz="1550" dirty="0">
                <a:solidFill>
                  <a:srgbClr val="E5DCE6"/>
                </a:solidFill>
                <a:latin typeface="Montserrat" pitchFamily="34" charset="0"/>
                <a:ea typeface="Montserrat" pitchFamily="34" charset="-122"/>
                <a:cs typeface="Montserrat" pitchFamily="34" charset="-120"/>
              </a:rPr>
              <a:t>, soweit ihr nicht widersprochen wird.</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Shape 0"/>
          <p:cNvSpPr/>
          <p:nvPr/>
        </p:nvSpPr>
        <p:spPr>
          <a:xfrm>
            <a:off x="6280190" y="2802136"/>
            <a:ext cx="1168122" cy="373142"/>
          </a:xfrm>
          <a:prstGeom prst="roundRect">
            <a:avLst>
              <a:gd name="adj" fmla="val 17872"/>
            </a:avLst>
          </a:prstGeom>
          <a:solidFill>
            <a:srgbClr val="3E0845"/>
          </a:solidFill>
          <a:ln/>
        </p:spPr>
        <p:txBody>
          <a:bodyPr/>
          <a:lstStyle/>
          <a:p>
            <a:endParaRPr lang="de-DE"/>
          </a:p>
        </p:txBody>
      </p:sp>
      <p:sp>
        <p:nvSpPr>
          <p:cNvPr id="4" name="Text 1"/>
          <p:cNvSpPr/>
          <p:nvPr/>
        </p:nvSpPr>
        <p:spPr>
          <a:xfrm>
            <a:off x="6399252" y="2861667"/>
            <a:ext cx="929997" cy="254079"/>
          </a:xfrm>
          <a:prstGeom prst="rect">
            <a:avLst/>
          </a:prstGeom>
          <a:noFill/>
          <a:ln/>
        </p:spPr>
        <p:txBody>
          <a:bodyPr wrap="none" lIns="0" tIns="0" rIns="0" bIns="0" rtlCol="0" anchor="t"/>
          <a:lstStyle/>
          <a:p>
            <a:pPr marL="0" indent="0" algn="l">
              <a:lnSpc>
                <a:spcPts val="2000"/>
              </a:lnSpc>
              <a:buNone/>
            </a:pPr>
            <a:r>
              <a:rPr lang="en-US" sz="1250" dirty="0">
                <a:solidFill>
                  <a:srgbClr val="E5DCE6"/>
                </a:solidFill>
                <a:latin typeface="Montserrat" pitchFamily="34" charset="0"/>
                <a:ea typeface="Montserrat" pitchFamily="34" charset="-122"/>
                <a:cs typeface="Montserrat" pitchFamily="34" charset="-120"/>
              </a:rPr>
              <a:t>AUFGABE 5</a:t>
            </a:r>
            <a:endParaRPr lang="en-US" sz="1250" dirty="0"/>
          </a:p>
        </p:txBody>
      </p:sp>
      <p:sp>
        <p:nvSpPr>
          <p:cNvPr id="5" name="Text 2"/>
          <p:cNvSpPr/>
          <p:nvPr/>
        </p:nvSpPr>
        <p:spPr>
          <a:xfrm>
            <a:off x="6280190" y="3254573"/>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ESG-Strategie im Versicherungsvertrieb</a:t>
            </a:r>
            <a:endParaRPr lang="en-US" sz="3900" dirty="0"/>
          </a:p>
        </p:txBody>
      </p:sp>
      <p:sp>
        <p:nvSpPr>
          <p:cNvPr id="6" name="Text 3"/>
          <p:cNvSpPr/>
          <p:nvPr/>
        </p:nvSpPr>
        <p:spPr>
          <a:xfrm>
            <a:off x="6280190" y="4792385"/>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Drei nachvollziehbare und komplexe Konzepte zur Positionierung als authentischer ESG-Partner.</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93790" y="2011918"/>
            <a:ext cx="2222063" cy="388382"/>
          </a:xfrm>
          <a:prstGeom prst="roundRect">
            <a:avLst>
              <a:gd name="adj" fmla="val 17171"/>
            </a:avLst>
          </a:prstGeom>
          <a:noFill/>
          <a:ln w="7620">
            <a:solidFill>
              <a:srgbClr val="EEAEF6"/>
            </a:solidFill>
            <a:prstDash val="solid"/>
          </a:ln>
        </p:spPr>
        <p:txBody>
          <a:bodyPr/>
          <a:lstStyle/>
          <a:p>
            <a:endParaRPr lang="de-DE"/>
          </a:p>
        </p:txBody>
      </p:sp>
      <p:sp>
        <p:nvSpPr>
          <p:cNvPr id="3" name="Text 1"/>
          <p:cNvSpPr/>
          <p:nvPr/>
        </p:nvSpPr>
        <p:spPr>
          <a:xfrm>
            <a:off x="920472" y="2079069"/>
            <a:ext cx="1968698" cy="254079"/>
          </a:xfrm>
          <a:prstGeom prst="rect">
            <a:avLst/>
          </a:prstGeom>
          <a:noFill/>
          <a:ln/>
        </p:spPr>
        <p:txBody>
          <a:bodyPr wrap="none" lIns="0" tIns="0" rIns="0" bIns="0" rtlCol="0" anchor="t"/>
          <a:lstStyle/>
          <a:p>
            <a:pPr marL="0" indent="0" algn="l">
              <a:lnSpc>
                <a:spcPts val="2000"/>
              </a:lnSpc>
              <a:buNone/>
            </a:pPr>
            <a:r>
              <a:rPr lang="en-US" sz="1250" dirty="0">
                <a:solidFill>
                  <a:srgbClr val="EEAEF6"/>
                </a:solidFill>
                <a:latin typeface="Montserrat" pitchFamily="34" charset="0"/>
                <a:ea typeface="Montserrat" pitchFamily="34" charset="-122"/>
                <a:cs typeface="Montserrat" pitchFamily="34" charset="-120"/>
              </a:rPr>
              <a:t>AUFGABE 5 – KONZEPT 1</a:t>
            </a:r>
            <a:endParaRPr lang="en-US" sz="1250" dirty="0"/>
          </a:p>
        </p:txBody>
      </p:sp>
      <p:sp>
        <p:nvSpPr>
          <p:cNvPr id="4" name="Text 2"/>
          <p:cNvSpPr/>
          <p:nvPr/>
        </p:nvSpPr>
        <p:spPr>
          <a:xfrm>
            <a:off x="793790" y="2479596"/>
            <a:ext cx="11189375" cy="620078"/>
          </a:xfrm>
          <a:prstGeom prst="rect">
            <a:avLst/>
          </a:prstGeom>
          <a:noFill/>
          <a:ln/>
        </p:spPr>
        <p:txBody>
          <a:bodyPr wrap="non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ESG-Zertifizierungsservice für Firmenkunden</a:t>
            </a:r>
            <a:endParaRPr lang="en-US" sz="3900" dirty="0"/>
          </a:p>
        </p:txBody>
      </p:sp>
      <p:sp>
        <p:nvSpPr>
          <p:cNvPr id="5" name="Shape 3"/>
          <p:cNvSpPr/>
          <p:nvPr/>
        </p:nvSpPr>
        <p:spPr>
          <a:xfrm>
            <a:off x="650915" y="3397329"/>
            <a:ext cx="6565106" cy="2820353"/>
          </a:xfrm>
          <a:prstGeom prst="roundRect">
            <a:avLst>
              <a:gd name="adj" fmla="val 5067"/>
            </a:avLst>
          </a:prstGeom>
          <a:solidFill>
            <a:srgbClr val="EEAEF6"/>
          </a:solidFill>
          <a:ln/>
        </p:spPr>
        <p:txBody>
          <a:bodyPr/>
          <a:lstStyle/>
          <a:p>
            <a:endParaRPr lang="de-DE"/>
          </a:p>
        </p:txBody>
      </p:sp>
      <p:sp>
        <p:nvSpPr>
          <p:cNvPr id="6" name="Text 4"/>
          <p:cNvSpPr/>
          <p:nvPr/>
        </p:nvSpPr>
        <p:spPr>
          <a:xfrm>
            <a:off x="849273" y="359568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Bricolage Grotesque Extra Bold" pitchFamily="34" charset="0"/>
                <a:ea typeface="Bricolage Grotesque Extra Bold" pitchFamily="34" charset="-122"/>
                <a:cs typeface="Bricolage Grotesque Extra Bold" pitchFamily="34" charset="-120"/>
              </a:rPr>
              <a:t>Leistungsumfang</a:t>
            </a:r>
            <a:endParaRPr lang="en-US" sz="1950" dirty="0"/>
          </a:p>
        </p:txBody>
      </p:sp>
      <p:sp>
        <p:nvSpPr>
          <p:cNvPr id="7" name="Text 5"/>
          <p:cNvSpPr/>
          <p:nvPr/>
        </p:nvSpPr>
        <p:spPr>
          <a:xfrm>
            <a:off x="849273" y="4104203"/>
            <a:ext cx="6168390" cy="2044065"/>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Montserrat" pitchFamily="34" charset="0"/>
                <a:ea typeface="Montserrat" pitchFamily="34" charset="-122"/>
                <a:cs typeface="Montserrat" pitchFamily="34" charset="-120"/>
              </a:rPr>
              <a:t>Vermittlung von Kooperationspartnern für Nachhaltigkeitsanalysen</a:t>
            </a:r>
            <a:endParaRPr lang="en-US" sz="1550" dirty="0"/>
          </a:p>
          <a:p>
            <a:pPr marL="342900" indent="-342900" algn="l">
              <a:lnSpc>
                <a:spcPts val="2500"/>
              </a:lnSpc>
              <a:buSzPct val="100000"/>
              <a:buChar char="•"/>
            </a:pPr>
            <a:r>
              <a:rPr lang="en-US" sz="1550" dirty="0">
                <a:solidFill>
                  <a:srgbClr val="000000"/>
                </a:solidFill>
                <a:latin typeface="Montserrat" pitchFamily="34" charset="0"/>
                <a:ea typeface="Montserrat" pitchFamily="34" charset="-122"/>
                <a:cs typeface="Montserrat" pitchFamily="34" charset="-120"/>
              </a:rPr>
              <a:t>Unterstützung bei der ESG-Zertifizierung</a:t>
            </a:r>
            <a:endParaRPr lang="en-US" sz="1550" dirty="0"/>
          </a:p>
          <a:p>
            <a:pPr marL="342900" indent="-342900" algn="l">
              <a:lnSpc>
                <a:spcPts val="2500"/>
              </a:lnSpc>
              <a:buSzPct val="100000"/>
              <a:buChar char="•"/>
            </a:pPr>
            <a:r>
              <a:rPr lang="en-US" sz="1550" dirty="0">
                <a:solidFill>
                  <a:srgbClr val="000000"/>
                </a:solidFill>
                <a:latin typeface="Montserrat" pitchFamily="34" charset="0"/>
                <a:ea typeface="Montserrat" pitchFamily="34" charset="-122"/>
                <a:cs typeface="Montserrat" pitchFamily="34" charset="-120"/>
              </a:rPr>
              <a:t>Beratung zur Einbindung von ESG-Maßnahmen in betriebliche Vorsorgeangebote (z. B. nachhaltige Anlageformen in der bAV)</a:t>
            </a:r>
            <a:endParaRPr lang="en-US" sz="1550" dirty="0"/>
          </a:p>
        </p:txBody>
      </p:sp>
      <p:sp>
        <p:nvSpPr>
          <p:cNvPr id="8" name="Text 6"/>
          <p:cNvSpPr/>
          <p:nvPr/>
        </p:nvSpPr>
        <p:spPr>
          <a:xfrm>
            <a:off x="7564874" y="3595688"/>
            <a:ext cx="2631162" cy="310158"/>
          </a:xfrm>
          <a:prstGeom prst="rect">
            <a:avLst/>
          </a:prstGeom>
          <a:noFill/>
          <a:ln/>
        </p:spPr>
        <p:txBody>
          <a:bodyPr wrap="none" lIns="0" tIns="0" rIns="0" bIns="0" rtlCol="0" anchor="t"/>
          <a:lstStyle/>
          <a:p>
            <a:pPr marL="0" indent="0" algn="l">
              <a:lnSpc>
                <a:spcPts val="2400"/>
              </a:lnSpc>
              <a:buNone/>
            </a:pPr>
            <a:r>
              <a:rPr lang="en-US" sz="1950" b="1" dirty="0">
                <a:solidFill>
                  <a:srgbClr val="EEAEF6"/>
                </a:solidFill>
                <a:latin typeface="Bricolage Grotesque Extra Bold" pitchFamily="34" charset="0"/>
                <a:ea typeface="Bricolage Grotesque Extra Bold" pitchFamily="34" charset="-122"/>
                <a:cs typeface="Bricolage Grotesque Extra Bold" pitchFamily="34" charset="-120"/>
              </a:rPr>
              <a:t>Strategischer Nutzen</a:t>
            </a:r>
            <a:endParaRPr lang="en-US" sz="1950" dirty="0"/>
          </a:p>
        </p:txBody>
      </p:sp>
      <p:sp>
        <p:nvSpPr>
          <p:cNvPr id="9" name="Text 7"/>
          <p:cNvSpPr/>
          <p:nvPr/>
        </p:nvSpPr>
        <p:spPr>
          <a:xfrm>
            <a:off x="7564874" y="4104203"/>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Dieser Service positioniert den Versicherer als </a:t>
            </a:r>
            <a:r>
              <a:rPr lang="en-US" sz="1550" b="1" dirty="0">
                <a:solidFill>
                  <a:srgbClr val="E5DCE6"/>
                </a:solidFill>
                <a:latin typeface="Montserrat" pitchFamily="34" charset="0"/>
                <a:ea typeface="Montserrat" pitchFamily="34" charset="-122"/>
                <a:cs typeface="Montserrat" pitchFamily="34" charset="-120"/>
              </a:rPr>
              <a:t>aktiven ESG-Partner</a:t>
            </a:r>
            <a:r>
              <a:rPr lang="en-US" sz="1550" dirty="0">
                <a:solidFill>
                  <a:srgbClr val="E5DCE6"/>
                </a:solidFill>
                <a:latin typeface="Montserrat" pitchFamily="34" charset="0"/>
                <a:ea typeface="Montserrat" pitchFamily="34" charset="-122"/>
                <a:cs typeface="Montserrat" pitchFamily="34" charset="-120"/>
              </a:rPr>
              <a:t> und erhöht die Kundenbindung nachhaltig. Firmenkunden erhalten gezielte Unterstützung bei der Implementierung von ESG-Kriterien im eigenen Unternehmen.</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93790" y="2413635"/>
            <a:ext cx="2254925" cy="388382"/>
          </a:xfrm>
          <a:prstGeom prst="roundRect">
            <a:avLst>
              <a:gd name="adj" fmla="val 17171"/>
            </a:avLst>
          </a:prstGeom>
          <a:noFill/>
          <a:ln w="7620">
            <a:solidFill>
              <a:srgbClr val="EEAEF6"/>
            </a:solidFill>
            <a:prstDash val="solid"/>
          </a:ln>
        </p:spPr>
        <p:txBody>
          <a:bodyPr/>
          <a:lstStyle/>
          <a:p>
            <a:endParaRPr lang="de-DE"/>
          </a:p>
        </p:txBody>
      </p:sp>
      <p:sp>
        <p:nvSpPr>
          <p:cNvPr id="3" name="Text 1"/>
          <p:cNvSpPr/>
          <p:nvPr/>
        </p:nvSpPr>
        <p:spPr>
          <a:xfrm>
            <a:off x="920472" y="2480786"/>
            <a:ext cx="2001560" cy="254079"/>
          </a:xfrm>
          <a:prstGeom prst="rect">
            <a:avLst/>
          </a:prstGeom>
          <a:noFill/>
          <a:ln/>
        </p:spPr>
        <p:txBody>
          <a:bodyPr wrap="none" lIns="0" tIns="0" rIns="0" bIns="0" rtlCol="0" anchor="t"/>
          <a:lstStyle/>
          <a:p>
            <a:pPr marL="0" indent="0" algn="l">
              <a:lnSpc>
                <a:spcPts val="2000"/>
              </a:lnSpc>
              <a:buNone/>
            </a:pPr>
            <a:r>
              <a:rPr lang="en-US" sz="1250" dirty="0">
                <a:solidFill>
                  <a:srgbClr val="EEAEF6"/>
                </a:solidFill>
                <a:latin typeface="Montserrat" pitchFamily="34" charset="0"/>
                <a:ea typeface="Montserrat" pitchFamily="34" charset="-122"/>
                <a:cs typeface="Montserrat" pitchFamily="34" charset="-120"/>
              </a:rPr>
              <a:t>AUFGABE 5 – KONZEPT 2</a:t>
            </a:r>
            <a:endParaRPr lang="en-US" sz="1250" dirty="0"/>
          </a:p>
        </p:txBody>
      </p:sp>
      <p:sp>
        <p:nvSpPr>
          <p:cNvPr id="4" name="Text 2"/>
          <p:cNvSpPr/>
          <p:nvPr/>
        </p:nvSpPr>
        <p:spPr>
          <a:xfrm>
            <a:off x="793790" y="2881313"/>
            <a:ext cx="12818626" cy="620078"/>
          </a:xfrm>
          <a:prstGeom prst="rect">
            <a:avLst/>
          </a:prstGeom>
          <a:noFill/>
          <a:ln/>
        </p:spPr>
        <p:txBody>
          <a:bodyPr wrap="non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Nachhaltigkeitsschulungen für Vertrieb und Kunden</a:t>
            </a:r>
            <a:endParaRPr lang="en-US" sz="3900" dirty="0"/>
          </a:p>
        </p:txBody>
      </p:sp>
      <p:pic>
        <p:nvPicPr>
          <p:cNvPr id="5" name="Image 0" descr="preencoded.png"/>
          <p:cNvPicPr>
            <a:picLocks noChangeAspect="1"/>
          </p:cNvPicPr>
          <p:nvPr/>
        </p:nvPicPr>
        <p:blipFill>
          <a:blip r:embed="rId3"/>
          <a:stretch>
            <a:fillRect/>
          </a:stretch>
        </p:blipFill>
        <p:spPr>
          <a:xfrm>
            <a:off x="793790" y="3799046"/>
            <a:ext cx="1407319" cy="869752"/>
          </a:xfrm>
          <a:prstGeom prst="rect">
            <a:avLst/>
          </a:prstGeom>
        </p:spPr>
      </p:pic>
      <p:sp>
        <p:nvSpPr>
          <p:cNvPr id="6" name="Text 3"/>
          <p:cNvSpPr/>
          <p:nvPr/>
        </p:nvSpPr>
        <p:spPr>
          <a:xfrm>
            <a:off x="2449116" y="3799046"/>
            <a:ext cx="4142065"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Qualifizierung des Außendienstes</a:t>
            </a:r>
            <a:endParaRPr lang="en-US" sz="1950" dirty="0"/>
          </a:p>
        </p:txBody>
      </p:sp>
      <p:sp>
        <p:nvSpPr>
          <p:cNvPr id="7" name="Text 4"/>
          <p:cNvSpPr/>
          <p:nvPr/>
        </p:nvSpPr>
        <p:spPr>
          <a:xfrm>
            <a:off x="2449116" y="4228267"/>
            <a:ext cx="4742021" cy="127015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Makler und Außendienst werden in ESG-Fragen geschult, um gezielt auf Nachhaltigkeitsziele der Kunden eingehen zu können.</a:t>
            </a:r>
            <a:endParaRPr lang="en-US" sz="1550" dirty="0"/>
          </a:p>
        </p:txBody>
      </p:sp>
      <p:pic>
        <p:nvPicPr>
          <p:cNvPr id="8" name="Image 1" descr="preencoded.png"/>
          <p:cNvPicPr>
            <a:picLocks noChangeAspect="1"/>
          </p:cNvPicPr>
          <p:nvPr/>
        </p:nvPicPr>
        <p:blipFill>
          <a:blip r:embed="rId4"/>
          <a:stretch>
            <a:fillRect/>
          </a:stretch>
        </p:blipFill>
        <p:spPr>
          <a:xfrm>
            <a:off x="7439144" y="3799046"/>
            <a:ext cx="1407438" cy="869752"/>
          </a:xfrm>
          <a:prstGeom prst="rect">
            <a:avLst/>
          </a:prstGeom>
        </p:spPr>
      </p:pic>
      <p:sp>
        <p:nvSpPr>
          <p:cNvPr id="9" name="Text 5"/>
          <p:cNvSpPr/>
          <p:nvPr/>
        </p:nvSpPr>
        <p:spPr>
          <a:xfrm>
            <a:off x="9094589" y="3799046"/>
            <a:ext cx="4740712"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Schulungsangebote für Firmenkunden</a:t>
            </a:r>
            <a:endParaRPr lang="en-US" sz="1950" dirty="0"/>
          </a:p>
        </p:txBody>
      </p:sp>
      <p:sp>
        <p:nvSpPr>
          <p:cNvPr id="10" name="Text 6"/>
          <p:cNvSpPr/>
          <p:nvPr/>
        </p:nvSpPr>
        <p:spPr>
          <a:xfrm>
            <a:off x="9094589" y="4228267"/>
            <a:ext cx="4742021" cy="1587698"/>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Webinare zu nachhaltiger Personalvorsorge und Workshops zu ESG-konformer Unternehmensführung schaffen einen </a:t>
            </a:r>
            <a:r>
              <a:rPr lang="en-US" sz="1550" b="1" dirty="0">
                <a:solidFill>
                  <a:srgbClr val="E5DCE6"/>
                </a:solidFill>
                <a:latin typeface="Montserrat" pitchFamily="34" charset="0"/>
                <a:ea typeface="Montserrat" pitchFamily="34" charset="-122"/>
                <a:cs typeface="Montserrat" pitchFamily="34" charset="-120"/>
              </a:rPr>
              <a:t>Kompetenzvorsprung</a:t>
            </a:r>
            <a:r>
              <a:rPr lang="en-US" sz="1550" dirty="0">
                <a:solidFill>
                  <a:srgbClr val="E5DCE6"/>
                </a:solidFill>
                <a:latin typeface="Montserrat" pitchFamily="34" charset="0"/>
                <a:ea typeface="Montserrat" pitchFamily="34" charset="-122"/>
                <a:cs typeface="Montserrat" pitchFamily="34" charset="-120"/>
              </a:rPr>
              <a:t> und stärken das Vertrauen in die Beratung.</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Shape 0"/>
          <p:cNvSpPr/>
          <p:nvPr/>
        </p:nvSpPr>
        <p:spPr>
          <a:xfrm>
            <a:off x="793790" y="801172"/>
            <a:ext cx="2254329" cy="388382"/>
          </a:xfrm>
          <a:prstGeom prst="roundRect">
            <a:avLst>
              <a:gd name="adj" fmla="val 17171"/>
            </a:avLst>
          </a:prstGeom>
          <a:noFill/>
          <a:ln w="7620">
            <a:solidFill>
              <a:srgbClr val="EEAEF6"/>
            </a:solidFill>
            <a:prstDash val="solid"/>
          </a:ln>
        </p:spPr>
        <p:txBody>
          <a:bodyPr/>
          <a:lstStyle/>
          <a:p>
            <a:endParaRPr lang="de-DE"/>
          </a:p>
        </p:txBody>
      </p:sp>
      <p:sp>
        <p:nvSpPr>
          <p:cNvPr id="4" name="Text 1"/>
          <p:cNvSpPr/>
          <p:nvPr/>
        </p:nvSpPr>
        <p:spPr>
          <a:xfrm>
            <a:off x="920472" y="868323"/>
            <a:ext cx="2000964" cy="254079"/>
          </a:xfrm>
          <a:prstGeom prst="rect">
            <a:avLst/>
          </a:prstGeom>
          <a:noFill/>
          <a:ln/>
        </p:spPr>
        <p:txBody>
          <a:bodyPr wrap="none" lIns="0" tIns="0" rIns="0" bIns="0" rtlCol="0" anchor="t"/>
          <a:lstStyle/>
          <a:p>
            <a:pPr marL="0" indent="0" algn="l">
              <a:lnSpc>
                <a:spcPts val="2000"/>
              </a:lnSpc>
              <a:buNone/>
            </a:pPr>
            <a:r>
              <a:rPr lang="en-US" sz="1250" dirty="0">
                <a:solidFill>
                  <a:srgbClr val="EEAEF6"/>
                </a:solidFill>
                <a:latin typeface="Montserrat" pitchFamily="34" charset="0"/>
                <a:ea typeface="Montserrat" pitchFamily="34" charset="-122"/>
                <a:cs typeface="Montserrat" pitchFamily="34" charset="-120"/>
              </a:rPr>
              <a:t>AUFGABE 5 – KONZEPT 3</a:t>
            </a:r>
            <a:endParaRPr lang="en-US" sz="1250" dirty="0"/>
          </a:p>
        </p:txBody>
      </p:sp>
      <p:sp>
        <p:nvSpPr>
          <p:cNvPr id="5" name="Text 2"/>
          <p:cNvSpPr/>
          <p:nvPr/>
        </p:nvSpPr>
        <p:spPr>
          <a:xfrm>
            <a:off x="793790" y="1268849"/>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Transparente Kommunikation eigener ESG-Erfolge</a:t>
            </a:r>
            <a:endParaRPr lang="en-US" sz="3900" dirty="0"/>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8204" y="2812733"/>
            <a:ext cx="297656" cy="297656"/>
          </a:xfrm>
          <a:prstGeom prst="rect">
            <a:avLst/>
          </a:prstGeom>
        </p:spPr>
      </p:pic>
      <p:sp>
        <p:nvSpPr>
          <p:cNvPr id="7" name="Text 3"/>
          <p:cNvSpPr/>
          <p:nvPr/>
        </p:nvSpPr>
        <p:spPr>
          <a:xfrm>
            <a:off x="1438632" y="2806660"/>
            <a:ext cx="2921556"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Kommunikationskanäle</a:t>
            </a:r>
            <a:endParaRPr lang="en-US" sz="1950" dirty="0"/>
          </a:p>
        </p:txBody>
      </p:sp>
      <p:sp>
        <p:nvSpPr>
          <p:cNvPr id="8" name="Text 4"/>
          <p:cNvSpPr/>
          <p:nvPr/>
        </p:nvSpPr>
        <p:spPr>
          <a:xfrm>
            <a:off x="1438632" y="3235881"/>
            <a:ext cx="6911578" cy="95261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Gezielte Kampagnen, ESG-Berichte, digitale Plattformen und das Beratungsgespräch als Instrumente der transparenten Kommunikation.</a:t>
            </a:r>
            <a:endParaRPr lang="en-US" sz="1550" dirty="0"/>
          </a:p>
        </p:txBody>
      </p:sp>
      <p:pic>
        <p:nvPicPr>
          <p:cNvPr id="9"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8204" y="4591407"/>
            <a:ext cx="297656" cy="297656"/>
          </a:xfrm>
          <a:prstGeom prst="rect">
            <a:avLst/>
          </a:prstGeom>
        </p:spPr>
      </p:pic>
      <p:sp>
        <p:nvSpPr>
          <p:cNvPr id="10" name="Text 5"/>
          <p:cNvSpPr/>
          <p:nvPr/>
        </p:nvSpPr>
        <p:spPr>
          <a:xfrm>
            <a:off x="1438632" y="4585335"/>
            <a:ext cx="2750701"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Konkrete Maßnahmen</a:t>
            </a:r>
            <a:endParaRPr lang="en-US" sz="1950" dirty="0"/>
          </a:p>
        </p:txBody>
      </p:sp>
      <p:sp>
        <p:nvSpPr>
          <p:cNvPr id="11" name="Text 6"/>
          <p:cNvSpPr/>
          <p:nvPr/>
        </p:nvSpPr>
        <p:spPr>
          <a:xfrm>
            <a:off x="1438632" y="5014555"/>
            <a:ext cx="6911578" cy="63507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CO₂-neutrale Kapitalanlagen, Diversity-Programme und soziales Engagement werden hervorgehoben.</a:t>
            </a:r>
            <a:endParaRPr lang="en-US" sz="1550" dirty="0"/>
          </a:p>
        </p:txBody>
      </p:sp>
      <p:pic>
        <p:nvPicPr>
          <p:cNvPr id="12"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8204" y="6052542"/>
            <a:ext cx="297656" cy="297656"/>
          </a:xfrm>
          <a:prstGeom prst="rect">
            <a:avLst/>
          </a:prstGeom>
        </p:spPr>
      </p:pic>
      <p:sp>
        <p:nvSpPr>
          <p:cNvPr id="13" name="Text 7"/>
          <p:cNvSpPr/>
          <p:nvPr/>
        </p:nvSpPr>
        <p:spPr>
          <a:xfrm>
            <a:off x="1438632" y="604647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Wettbewerbsvorteil</a:t>
            </a:r>
            <a:endParaRPr lang="en-US" sz="1950" dirty="0"/>
          </a:p>
        </p:txBody>
      </p:sp>
      <p:sp>
        <p:nvSpPr>
          <p:cNvPr id="14" name="Text 8"/>
          <p:cNvSpPr/>
          <p:nvPr/>
        </p:nvSpPr>
        <p:spPr>
          <a:xfrm>
            <a:off x="1438632" y="6475690"/>
            <a:ext cx="6911578" cy="95261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Der Versicherer wird als </a:t>
            </a:r>
            <a:r>
              <a:rPr lang="en-US" sz="1550" b="1" dirty="0">
                <a:solidFill>
                  <a:srgbClr val="E5DCE6"/>
                </a:solidFill>
                <a:latin typeface="Montserrat" pitchFamily="34" charset="0"/>
                <a:ea typeface="Montserrat" pitchFamily="34" charset="-122"/>
                <a:cs typeface="Montserrat" pitchFamily="34" charset="-120"/>
              </a:rPr>
              <a:t>authentischer ESG-Partner</a:t>
            </a:r>
            <a:r>
              <a:rPr lang="en-US" sz="1550" dirty="0">
                <a:solidFill>
                  <a:srgbClr val="E5DCE6"/>
                </a:solidFill>
                <a:latin typeface="Montserrat" pitchFamily="34" charset="0"/>
                <a:ea typeface="Montserrat" pitchFamily="34" charset="-122"/>
                <a:cs typeface="Montserrat" pitchFamily="34" charset="-120"/>
              </a:rPr>
              <a:t> wahrgenommen – besonders wirksam bei der Neukundengewinnung.</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1362194"/>
            <a:ext cx="8409503" cy="620078"/>
          </a:xfrm>
          <a:prstGeom prst="rect">
            <a:avLst/>
          </a:prstGeom>
          <a:noFill/>
          <a:ln/>
        </p:spPr>
        <p:txBody>
          <a:bodyPr wrap="none" lIns="0" tIns="0" rIns="0" bIns="0" rtlCol="0" anchor="t"/>
          <a:lstStyle/>
          <a:p>
            <a:pPr marL="0" indent="0" algn="l">
              <a:lnSpc>
                <a:spcPts val="4850"/>
              </a:lnSpc>
              <a:buNone/>
            </a:pPr>
            <a:r>
              <a:rPr lang="en-US" sz="3900" b="1" dirty="0">
                <a:solidFill>
                  <a:srgbClr val="EEAEF6"/>
                </a:solidFill>
                <a:latin typeface="Bricolage Grotesque Extra Bold" pitchFamily="34" charset="0"/>
                <a:ea typeface="Bricolage Grotesque Extra Bold" pitchFamily="34" charset="-122"/>
                <a:cs typeface="Bricolage Grotesque Extra Bold" pitchFamily="34" charset="-120"/>
              </a:rPr>
              <a:t>Zusammenfassung aller Aufgaben</a:t>
            </a:r>
            <a:endParaRPr lang="en-US" sz="3900" dirty="0"/>
          </a:p>
        </p:txBody>
      </p:sp>
      <p:sp>
        <p:nvSpPr>
          <p:cNvPr id="3" name="Text 1"/>
          <p:cNvSpPr/>
          <p:nvPr/>
        </p:nvSpPr>
        <p:spPr>
          <a:xfrm>
            <a:off x="793790" y="237910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Bricolage Grotesque Light" pitchFamily="34" charset="0"/>
                <a:ea typeface="Bricolage Grotesque Light" pitchFamily="34" charset="-122"/>
                <a:cs typeface="Bricolage Grotesque Light" pitchFamily="34" charset="-120"/>
              </a:rPr>
              <a:t>01</a:t>
            </a:r>
            <a:endParaRPr lang="en-US" sz="1550" dirty="0"/>
          </a:p>
        </p:txBody>
      </p:sp>
      <p:sp>
        <p:nvSpPr>
          <p:cNvPr id="4" name="Shape 2"/>
          <p:cNvSpPr/>
          <p:nvPr/>
        </p:nvSpPr>
        <p:spPr>
          <a:xfrm>
            <a:off x="793790" y="2693432"/>
            <a:ext cx="4215289" cy="22860"/>
          </a:xfrm>
          <a:prstGeom prst="rect">
            <a:avLst/>
          </a:prstGeom>
          <a:solidFill>
            <a:srgbClr val="EEAEF6"/>
          </a:solidFill>
          <a:ln/>
        </p:spPr>
        <p:txBody>
          <a:bodyPr/>
          <a:lstStyle/>
          <a:p>
            <a:endParaRPr lang="de-DE"/>
          </a:p>
        </p:txBody>
      </p:sp>
      <p:sp>
        <p:nvSpPr>
          <p:cNvPr id="5" name="Text 3"/>
          <p:cNvSpPr/>
          <p:nvPr/>
        </p:nvSpPr>
        <p:spPr>
          <a:xfrm>
            <a:off x="793790" y="2838331"/>
            <a:ext cx="4215289" cy="620316"/>
          </a:xfrm>
          <a:prstGeom prst="rect">
            <a:avLst/>
          </a:prstGeom>
          <a:noFill/>
          <a:ln/>
        </p:spPr>
        <p:txBody>
          <a:bodyPr wrap="squar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Aufgabe 1 – KI vs. Sprachassistenten</a:t>
            </a:r>
            <a:endParaRPr lang="en-US" sz="1950" dirty="0"/>
          </a:p>
        </p:txBody>
      </p:sp>
      <p:sp>
        <p:nvSpPr>
          <p:cNvPr id="6" name="Text 4"/>
          <p:cNvSpPr/>
          <p:nvPr/>
        </p:nvSpPr>
        <p:spPr>
          <a:xfrm>
            <a:off x="793790" y="3577709"/>
            <a:ext cx="4215289" cy="127015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Sprachassistenten für Standardvorgänge; KI für komplexe Analysen – mit ethischen und haftungsrechtlichen Herausforderungen.</a:t>
            </a:r>
            <a:endParaRPr lang="en-US" sz="1550" dirty="0"/>
          </a:p>
        </p:txBody>
      </p:sp>
      <p:sp>
        <p:nvSpPr>
          <p:cNvPr id="7" name="Text 5"/>
          <p:cNvSpPr/>
          <p:nvPr/>
        </p:nvSpPr>
        <p:spPr>
          <a:xfrm>
            <a:off x="5207437" y="237910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Bricolage Grotesque Light" pitchFamily="34" charset="0"/>
                <a:ea typeface="Bricolage Grotesque Light" pitchFamily="34" charset="-122"/>
                <a:cs typeface="Bricolage Grotesque Light" pitchFamily="34" charset="-120"/>
              </a:rPr>
              <a:t>02</a:t>
            </a:r>
            <a:endParaRPr lang="en-US" sz="1550" dirty="0"/>
          </a:p>
        </p:txBody>
      </p:sp>
      <p:sp>
        <p:nvSpPr>
          <p:cNvPr id="8" name="Shape 6"/>
          <p:cNvSpPr/>
          <p:nvPr/>
        </p:nvSpPr>
        <p:spPr>
          <a:xfrm>
            <a:off x="5207437" y="2693432"/>
            <a:ext cx="4215408" cy="22860"/>
          </a:xfrm>
          <a:prstGeom prst="rect">
            <a:avLst/>
          </a:prstGeom>
          <a:solidFill>
            <a:srgbClr val="EEAEF6"/>
          </a:solidFill>
          <a:ln/>
        </p:spPr>
        <p:txBody>
          <a:bodyPr/>
          <a:lstStyle/>
          <a:p>
            <a:endParaRPr lang="de-DE"/>
          </a:p>
        </p:txBody>
      </p:sp>
      <p:sp>
        <p:nvSpPr>
          <p:cNvPr id="9" name="Text 7"/>
          <p:cNvSpPr/>
          <p:nvPr/>
        </p:nvSpPr>
        <p:spPr>
          <a:xfrm>
            <a:off x="5207437" y="2838331"/>
            <a:ext cx="4100393"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Aufgabe 2 – Change Management</a:t>
            </a:r>
            <a:endParaRPr lang="en-US" sz="1950" dirty="0"/>
          </a:p>
        </p:txBody>
      </p:sp>
      <p:sp>
        <p:nvSpPr>
          <p:cNvPr id="10" name="Text 8"/>
          <p:cNvSpPr/>
          <p:nvPr/>
        </p:nvSpPr>
        <p:spPr>
          <a:xfrm>
            <a:off x="5207437" y="3267551"/>
            <a:ext cx="4215408" cy="95261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Frühzeitige Einbindung, Schulungen, positives Narrativ und das 8-Stufen-Modell nach Kotter.</a:t>
            </a:r>
            <a:endParaRPr lang="en-US" sz="1550" dirty="0"/>
          </a:p>
        </p:txBody>
      </p:sp>
      <p:sp>
        <p:nvSpPr>
          <p:cNvPr id="11" name="Text 9"/>
          <p:cNvSpPr/>
          <p:nvPr/>
        </p:nvSpPr>
        <p:spPr>
          <a:xfrm>
            <a:off x="9621203" y="237910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Bricolage Grotesque Light" pitchFamily="34" charset="0"/>
                <a:ea typeface="Bricolage Grotesque Light" pitchFamily="34" charset="-122"/>
                <a:cs typeface="Bricolage Grotesque Light" pitchFamily="34" charset="-120"/>
              </a:rPr>
              <a:t>03</a:t>
            </a:r>
            <a:endParaRPr lang="en-US" sz="1550" dirty="0"/>
          </a:p>
        </p:txBody>
      </p:sp>
      <p:sp>
        <p:nvSpPr>
          <p:cNvPr id="12" name="Shape 10"/>
          <p:cNvSpPr/>
          <p:nvPr/>
        </p:nvSpPr>
        <p:spPr>
          <a:xfrm>
            <a:off x="9621203" y="2693432"/>
            <a:ext cx="4215289" cy="22860"/>
          </a:xfrm>
          <a:prstGeom prst="rect">
            <a:avLst/>
          </a:prstGeom>
          <a:solidFill>
            <a:srgbClr val="EEAEF6"/>
          </a:solidFill>
          <a:ln/>
        </p:spPr>
        <p:txBody>
          <a:bodyPr/>
          <a:lstStyle/>
          <a:p>
            <a:endParaRPr lang="de-DE"/>
          </a:p>
        </p:txBody>
      </p:sp>
      <p:sp>
        <p:nvSpPr>
          <p:cNvPr id="13" name="Text 11"/>
          <p:cNvSpPr/>
          <p:nvPr/>
        </p:nvSpPr>
        <p:spPr>
          <a:xfrm>
            <a:off x="9621203" y="2838331"/>
            <a:ext cx="4215289" cy="620316"/>
          </a:xfrm>
          <a:prstGeom prst="rect">
            <a:avLst/>
          </a:prstGeom>
          <a:noFill/>
          <a:ln/>
        </p:spPr>
        <p:txBody>
          <a:bodyPr wrap="squar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Aufgabe 3 – Maklerrecht &amp; Zielmarkt</a:t>
            </a:r>
            <a:endParaRPr lang="en-US" sz="1950" dirty="0"/>
          </a:p>
        </p:txBody>
      </p:sp>
      <p:sp>
        <p:nvSpPr>
          <p:cNvPr id="14" name="Text 12"/>
          <p:cNvSpPr/>
          <p:nvPr/>
        </p:nvSpPr>
        <p:spPr>
          <a:xfrm>
            <a:off x="9621203" y="3577709"/>
            <a:ext cx="4215289" cy="127015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VM im Lager des VN (BGH); Zielmarktbestimmung via demografischer Segmentierung und digitaler Kommunikation.</a:t>
            </a:r>
            <a:endParaRPr lang="en-US" sz="1550" dirty="0"/>
          </a:p>
        </p:txBody>
      </p:sp>
      <p:sp>
        <p:nvSpPr>
          <p:cNvPr id="15" name="Text 13"/>
          <p:cNvSpPr/>
          <p:nvPr/>
        </p:nvSpPr>
        <p:spPr>
          <a:xfrm>
            <a:off x="793790" y="5195054"/>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Bricolage Grotesque Light" pitchFamily="34" charset="0"/>
                <a:ea typeface="Bricolage Grotesque Light" pitchFamily="34" charset="-122"/>
                <a:cs typeface="Bricolage Grotesque Light" pitchFamily="34" charset="-120"/>
              </a:rPr>
              <a:t>04</a:t>
            </a:r>
            <a:endParaRPr lang="en-US" sz="1550" dirty="0"/>
          </a:p>
        </p:txBody>
      </p:sp>
      <p:sp>
        <p:nvSpPr>
          <p:cNvPr id="16" name="Shape 14"/>
          <p:cNvSpPr/>
          <p:nvPr/>
        </p:nvSpPr>
        <p:spPr>
          <a:xfrm>
            <a:off x="793790" y="5509379"/>
            <a:ext cx="6422112" cy="22860"/>
          </a:xfrm>
          <a:prstGeom prst="rect">
            <a:avLst/>
          </a:prstGeom>
          <a:solidFill>
            <a:srgbClr val="EEAEF6"/>
          </a:solidFill>
          <a:ln/>
        </p:spPr>
        <p:txBody>
          <a:bodyPr/>
          <a:lstStyle/>
          <a:p>
            <a:endParaRPr lang="de-DE"/>
          </a:p>
        </p:txBody>
      </p:sp>
      <p:sp>
        <p:nvSpPr>
          <p:cNvPr id="17" name="Text 15"/>
          <p:cNvSpPr/>
          <p:nvPr/>
        </p:nvSpPr>
        <p:spPr>
          <a:xfrm>
            <a:off x="793790" y="565427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Aufgabe 4 – DSGVO</a:t>
            </a:r>
            <a:endParaRPr lang="en-US" sz="1950" dirty="0"/>
          </a:p>
        </p:txBody>
      </p:sp>
      <p:sp>
        <p:nvSpPr>
          <p:cNvPr id="18" name="Text 16"/>
          <p:cNvSpPr/>
          <p:nvPr/>
        </p:nvSpPr>
        <p:spPr>
          <a:xfrm>
            <a:off x="793790" y="6083498"/>
            <a:ext cx="6422112" cy="63507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Telefon B2B mit unterstellter Einwilligung; E-Mail ohne Einwilligung unzulässig; Post grundsätzlich zulässig.</a:t>
            </a:r>
            <a:endParaRPr lang="en-US" sz="1550" dirty="0"/>
          </a:p>
        </p:txBody>
      </p:sp>
      <p:sp>
        <p:nvSpPr>
          <p:cNvPr id="19" name="Text 17"/>
          <p:cNvSpPr/>
          <p:nvPr/>
        </p:nvSpPr>
        <p:spPr>
          <a:xfrm>
            <a:off x="7414260" y="5195054"/>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5DCE6"/>
                </a:solidFill>
                <a:latin typeface="Bricolage Grotesque Light" pitchFamily="34" charset="0"/>
                <a:ea typeface="Bricolage Grotesque Light" pitchFamily="34" charset="-122"/>
                <a:cs typeface="Bricolage Grotesque Light" pitchFamily="34" charset="-120"/>
              </a:rPr>
              <a:t>05</a:t>
            </a:r>
            <a:endParaRPr lang="en-US" sz="1550" dirty="0"/>
          </a:p>
        </p:txBody>
      </p:sp>
      <p:sp>
        <p:nvSpPr>
          <p:cNvPr id="20" name="Shape 18"/>
          <p:cNvSpPr/>
          <p:nvPr/>
        </p:nvSpPr>
        <p:spPr>
          <a:xfrm>
            <a:off x="7414260" y="5509379"/>
            <a:ext cx="6422231" cy="22860"/>
          </a:xfrm>
          <a:prstGeom prst="rect">
            <a:avLst/>
          </a:prstGeom>
          <a:solidFill>
            <a:srgbClr val="EEAEF6"/>
          </a:solidFill>
          <a:ln/>
        </p:spPr>
        <p:txBody>
          <a:bodyPr/>
          <a:lstStyle/>
          <a:p>
            <a:endParaRPr lang="de-DE"/>
          </a:p>
        </p:txBody>
      </p:sp>
      <p:sp>
        <p:nvSpPr>
          <p:cNvPr id="21" name="Text 19"/>
          <p:cNvSpPr/>
          <p:nvPr/>
        </p:nvSpPr>
        <p:spPr>
          <a:xfrm>
            <a:off x="7414260" y="5654278"/>
            <a:ext cx="3214211" cy="310158"/>
          </a:xfrm>
          <a:prstGeom prst="rect">
            <a:avLst/>
          </a:prstGeom>
          <a:noFill/>
          <a:ln/>
        </p:spPr>
        <p:txBody>
          <a:bodyPr wrap="none" lIns="0" tIns="0" rIns="0" bIns="0" rtlCol="0" anchor="t"/>
          <a:lstStyle/>
          <a:p>
            <a:pPr marL="0" indent="0" algn="l">
              <a:lnSpc>
                <a:spcPts val="2400"/>
              </a:lnSpc>
              <a:buNone/>
            </a:pPr>
            <a:r>
              <a:rPr lang="en-US" sz="1950" b="1" dirty="0">
                <a:solidFill>
                  <a:srgbClr val="E5DCE6"/>
                </a:solidFill>
                <a:latin typeface="Bricolage Grotesque Extra Bold" pitchFamily="34" charset="0"/>
                <a:ea typeface="Bricolage Grotesque Extra Bold" pitchFamily="34" charset="-122"/>
                <a:cs typeface="Bricolage Grotesque Extra Bold" pitchFamily="34" charset="-120"/>
              </a:rPr>
              <a:t>Aufgabe 5 – ESG-Strategie</a:t>
            </a:r>
            <a:endParaRPr lang="en-US" sz="1950" dirty="0"/>
          </a:p>
        </p:txBody>
      </p:sp>
      <p:sp>
        <p:nvSpPr>
          <p:cNvPr id="22" name="Text 20"/>
          <p:cNvSpPr/>
          <p:nvPr/>
        </p:nvSpPr>
        <p:spPr>
          <a:xfrm>
            <a:off x="7414260" y="6083498"/>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E5DCE6"/>
                </a:solidFill>
                <a:latin typeface="Montserrat" pitchFamily="34" charset="0"/>
                <a:ea typeface="Montserrat" pitchFamily="34" charset="-122"/>
                <a:cs typeface="Montserrat" pitchFamily="34" charset="-120"/>
              </a:rPr>
              <a:t>ESG-Zertifizierungsservice, Nachhaltigkeitsschulungen und transparente Kommunikation eigener ESG-Erfolge.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841</Words>
  <Application>Microsoft Office PowerPoint</Application>
  <PresentationFormat>Benutzerdefiniert</PresentationFormat>
  <Paragraphs>127</Paragraphs>
  <Slides>16</Slides>
  <Notes>16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16</vt:i4>
      </vt:variant>
    </vt:vector>
  </HeadingPairs>
  <TitlesOfParts>
    <vt:vector size="21" baseType="lpstr">
      <vt:lpstr>Bricolage Grotesque Extra Bold</vt:lpstr>
      <vt:lpstr>Bricolage Grotesque Light</vt:lpstr>
      <vt:lpstr>Arial</vt:lpstr>
      <vt:lpstr>Montserrat</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Peter Gaubatz</dc:creator>
  <cp:lastModifiedBy>Peter Gaubatz</cp:lastModifiedBy>
  <cp:revision>1</cp:revision>
  <dcterms:created xsi:type="dcterms:W3CDTF">2026-03-27T16:41:43Z</dcterms:created>
  <dcterms:modified xsi:type="dcterms:W3CDTF">2026-03-27T16:42:32Z</dcterms:modified>
</cp:coreProperties>
</file>